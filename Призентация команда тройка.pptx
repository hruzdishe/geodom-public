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9" r:id="rId3"/>
    <p:sldId id="257" r:id="rId4"/>
    <p:sldId id="270" r:id="rId5"/>
    <p:sldId id="271" r:id="rId6"/>
    <p:sldId id="272" r:id="rId7"/>
    <p:sldId id="264" r:id="rId8"/>
    <p:sldId id="267" r:id="rId9"/>
    <p:sldId id="268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3" autoAdjust="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43C40B-13FD-4200-B318-6A4C4FE3DBD5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CD2E3-4C06-453C-9083-F08C8284CC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3923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Обложка: название проекта, ценность в одном предложении, команда и участники.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7095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Проблема: одна конкретная проблема. Кто сталкивается, что происходит, почему это важно.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1762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Проблема: одна конкретная проблема. Кто сталкивается, что происходит, почему это важно.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1322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Рабочий прототип: скриншоты MVP и что покажете вживую.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48656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Развитие: этапы после хакатона, сроки — ваши.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3642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Демо и итог: что покажете, главная мысль, ссылки и контакты.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7785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6E305C-18B6-7E00-3B5D-A4FD0D06C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2567583-AC7F-98D2-866C-56CEA1BDE5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8F5614-181C-D044-02A3-C2BE39165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B3438E-1A34-46F5-B5CF-CCFE10C1B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EE0F89-3AB9-30E1-49AF-A37AD193D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6594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BAF1F4-A727-1C45-3B64-D40802C4F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BBFB0E-D223-5021-7775-B006BB926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3AE310-4CBE-724F-F786-AFD12F479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4E3C85-665C-510D-FA28-E4B1949A1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297710-875B-5061-3DDC-527448E56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6241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9BDE8B-1CF8-6BF9-81A7-A98112EF8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7ED05F-8929-018E-1DFC-8FC8C6161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ED77BE-700E-356E-599B-56B30D73B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8E8FD8-C893-DB9C-650A-729979AE4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AC8EA9-06C3-BDF8-7C42-3A49F8F3F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55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964489-B1A9-984F-074F-CD844153E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8CCCDE-942A-455B-AF3D-6D027939E1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0DAAEFF-656C-3263-2290-96E0D8DB5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FDB474-6751-96FB-52B3-0F30EB150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BA0C64-CFD4-D141-4E51-E2AD453B1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648D041-DF94-D082-DF7A-889050533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6881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77F3EC-2FC5-AA48-B1B4-86D8832BC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58B901E-AE9A-667A-03F5-3F881849C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E52DC7F-30EC-2966-0C3A-013BD15AB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EC5E9BA-6252-95BE-0B0D-6C0B8A11E4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0860277-2100-397C-9821-49B2EDFF05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B2A468C-875F-4445-CB92-93A929670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B0284B1-DF17-BB89-334E-CD3815CBE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5B94957-FC2C-8A8D-9561-D86254A37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6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5A095E-D55B-3424-6D58-6A04A90A6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4CE2FAD-FFDB-59AD-95FB-673BBD1ED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AFBB7B6-BDB8-0C68-B7DA-456280193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B1CD6F6-D65F-43A5-8E83-B7B84900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0745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A66D885-A56B-0B8B-C537-662C8EC06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462A9FC-7FA6-FECC-D4BD-DD4A95139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0BA402-5960-35FE-A898-2C3623A1F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1674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7C581E-E972-4CCC-EF47-471611398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A25741-3055-87B6-956C-115D21104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D00B337-1B33-624C-0E4A-5BB23AFB6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C2ACF9-496B-0B21-49CE-7C566465A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30CF12-914A-D04D-0AC6-A9E84E046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1A7594E-72A1-F2CF-8275-BF139E78B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1177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C87DF0-048F-0D16-4709-A8D940E7D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D9414BD-694D-B821-A34F-71AEFBFD28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DDE5889-E568-6880-64F2-5C40A6A319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8BF94E9-9729-16D2-8892-0D74303A1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1D26B6D-45C5-ECC3-1199-02EE20FB5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F08D26A-46BE-8496-502C-8496B7FD4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627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C5B07F-A3B3-1C9E-5EA5-D76402741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1A48EA8-1667-66BD-F0CE-3F90725FB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9C5788-BB16-A6B5-9F93-B9857008D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198970-53E1-C079-427C-7C526192D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6CA188-641D-343D-15B2-1F0FF643A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1968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CF97BBB-BFAE-CBF1-8528-70CC1782DC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296A28C-B17B-E607-8E6D-4937AE9BAC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57172C-4C47-3DA4-5914-59386D34E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3B242A-AE74-A0C6-0442-C69E6062D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B74E61-0930-1A81-60FF-6D9D0425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7087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256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170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2358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2700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642B20-BE31-AF6C-2C9D-614456C52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6613A3-0AD0-0F08-6A40-91ACF78FC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8333F3-AE5F-A7E2-C8CA-3A7F18E62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468CFE-C60D-CE22-031D-506F1959A2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C6BCC1-C359-0165-F531-CA225DA174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9094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D798558-6B15-7D10-CE66-4697C62B8B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8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3" name="PixelHeart">
            <a:extLst>
              <a:ext uri="{FF2B5EF4-FFF2-40B4-BE49-F238E27FC236}">
                <a16:creationId xmlns:a16="http://schemas.microsoft.com/office/drawing/2014/main" id="{F5C8B72C-3AD7-6926-5AEC-C05CF0C33B5A}"/>
              </a:ext>
            </a:extLst>
          </p:cNvPr>
          <p:cNvGrpSpPr/>
          <p:nvPr/>
        </p:nvGrpSpPr>
        <p:grpSpPr>
          <a:xfrm>
            <a:off x="10033000" y="1905000"/>
            <a:ext cx="1155700" cy="977900"/>
            <a:chOff x="10033000" y="1905000"/>
            <a:chExt cx="1155700" cy="977900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1FA1CEAC-814B-AF91-570B-D6766736A7AB}"/>
                </a:ext>
              </a:extLst>
            </p:cNvPr>
            <p:cNvSpPr/>
            <p:nvPr/>
          </p:nvSpPr>
          <p:spPr>
            <a:xfrm>
              <a:off x="102108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EF8E8D76-80CE-C3B5-1EFA-6CD447A904D0}"/>
                </a:ext>
              </a:extLst>
            </p:cNvPr>
            <p:cNvSpPr/>
            <p:nvPr/>
          </p:nvSpPr>
          <p:spPr>
            <a:xfrm>
              <a:off x="102997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F1245EAC-1941-3FE8-01CE-EEF603530E59}"/>
                </a:ext>
              </a:extLst>
            </p:cNvPr>
            <p:cNvSpPr/>
            <p:nvPr/>
          </p:nvSpPr>
          <p:spPr>
            <a:xfrm>
              <a:off x="103886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18189630-6144-42B0-36A7-1C181D098375}"/>
                </a:ext>
              </a:extLst>
            </p:cNvPr>
            <p:cNvSpPr/>
            <p:nvPr/>
          </p:nvSpPr>
          <p:spPr>
            <a:xfrm>
              <a:off x="107442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F6D51848-8B4A-B5CA-F151-8F1116855262}"/>
                </a:ext>
              </a:extLst>
            </p:cNvPr>
            <p:cNvSpPr/>
            <p:nvPr/>
          </p:nvSpPr>
          <p:spPr>
            <a:xfrm>
              <a:off x="108331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D61E5F4B-1594-8BA9-2D71-5DFCDC779254}"/>
                </a:ext>
              </a:extLst>
            </p:cNvPr>
            <p:cNvSpPr/>
            <p:nvPr/>
          </p:nvSpPr>
          <p:spPr>
            <a:xfrm>
              <a:off x="109220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D17ABEF9-5953-E769-13F2-FF8A50CFD467}"/>
                </a:ext>
              </a:extLst>
            </p:cNvPr>
            <p:cNvSpPr/>
            <p:nvPr/>
          </p:nvSpPr>
          <p:spPr>
            <a:xfrm>
              <a:off x="10121900" y="19939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91D3610A-31F2-1B47-FA1A-77F0A6E70DD5}"/>
                </a:ext>
              </a:extLst>
            </p:cNvPr>
            <p:cNvSpPr/>
            <p:nvPr/>
          </p:nvSpPr>
          <p:spPr>
            <a:xfrm>
              <a:off x="10477500" y="19939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7F5216EC-6B81-6A80-90E1-27667758B0A6}"/>
                </a:ext>
              </a:extLst>
            </p:cNvPr>
            <p:cNvSpPr/>
            <p:nvPr/>
          </p:nvSpPr>
          <p:spPr>
            <a:xfrm>
              <a:off x="10655300" y="19939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AC3D8D8D-2945-51A5-2238-627FEB5FAD56}"/>
                </a:ext>
              </a:extLst>
            </p:cNvPr>
            <p:cNvSpPr/>
            <p:nvPr/>
          </p:nvSpPr>
          <p:spPr>
            <a:xfrm>
              <a:off x="11010900" y="19939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682430AD-E22B-DBDA-1796-B8C685A46A1F}"/>
                </a:ext>
              </a:extLst>
            </p:cNvPr>
            <p:cNvSpPr/>
            <p:nvPr/>
          </p:nvSpPr>
          <p:spPr>
            <a:xfrm>
              <a:off x="10033000" y="20828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25CCEE16-614A-B946-A381-0F431296166B}"/>
                </a:ext>
              </a:extLst>
            </p:cNvPr>
            <p:cNvSpPr/>
            <p:nvPr/>
          </p:nvSpPr>
          <p:spPr>
            <a:xfrm>
              <a:off x="10566400" y="20828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0AEABE84-F213-036B-9222-E3AFE7C3C1DA}"/>
                </a:ext>
              </a:extLst>
            </p:cNvPr>
            <p:cNvSpPr/>
            <p:nvPr/>
          </p:nvSpPr>
          <p:spPr>
            <a:xfrm>
              <a:off x="11099800" y="20828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BC178A37-7D81-B3EF-5F22-32422BBFA4D6}"/>
                </a:ext>
              </a:extLst>
            </p:cNvPr>
            <p:cNvSpPr/>
            <p:nvPr/>
          </p:nvSpPr>
          <p:spPr>
            <a:xfrm>
              <a:off x="10033000" y="21717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B5776D77-A9A4-12C6-265B-2BE2BC402BD9}"/>
                </a:ext>
              </a:extLst>
            </p:cNvPr>
            <p:cNvSpPr/>
            <p:nvPr/>
          </p:nvSpPr>
          <p:spPr>
            <a:xfrm>
              <a:off x="11099800" y="21717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39AD5CC5-4D2A-2B92-CF1D-C952643367BC}"/>
                </a:ext>
              </a:extLst>
            </p:cNvPr>
            <p:cNvSpPr/>
            <p:nvPr/>
          </p:nvSpPr>
          <p:spPr>
            <a:xfrm>
              <a:off x="10033000" y="22606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0C586510-8E90-5384-640D-AA17F0AF32F5}"/>
                </a:ext>
              </a:extLst>
            </p:cNvPr>
            <p:cNvSpPr/>
            <p:nvPr/>
          </p:nvSpPr>
          <p:spPr>
            <a:xfrm>
              <a:off x="11099800" y="22606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FBD3A775-A60D-3972-6324-973BF975DC07}"/>
                </a:ext>
              </a:extLst>
            </p:cNvPr>
            <p:cNvSpPr/>
            <p:nvPr/>
          </p:nvSpPr>
          <p:spPr>
            <a:xfrm>
              <a:off x="10121900" y="23495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9A4F7047-8026-440B-AE25-068CDC3DD338}"/>
                </a:ext>
              </a:extLst>
            </p:cNvPr>
            <p:cNvSpPr/>
            <p:nvPr/>
          </p:nvSpPr>
          <p:spPr>
            <a:xfrm>
              <a:off x="11010900" y="23495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18627609-2196-C575-F0E6-950DF9B3F6DD}"/>
                </a:ext>
              </a:extLst>
            </p:cNvPr>
            <p:cNvSpPr/>
            <p:nvPr/>
          </p:nvSpPr>
          <p:spPr>
            <a:xfrm>
              <a:off x="10210800" y="24384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613F1720-BEB7-0D69-8F1A-2343373AEB02}"/>
                </a:ext>
              </a:extLst>
            </p:cNvPr>
            <p:cNvSpPr/>
            <p:nvPr/>
          </p:nvSpPr>
          <p:spPr>
            <a:xfrm>
              <a:off x="10922000" y="24384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B7DFA7CC-29DC-91CF-20D2-1EF249E7D6DB}"/>
                </a:ext>
              </a:extLst>
            </p:cNvPr>
            <p:cNvSpPr/>
            <p:nvPr/>
          </p:nvSpPr>
          <p:spPr>
            <a:xfrm>
              <a:off x="10299700" y="25273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1348978D-58E8-3B0D-D3A6-E42FDD618FE6}"/>
                </a:ext>
              </a:extLst>
            </p:cNvPr>
            <p:cNvSpPr/>
            <p:nvPr/>
          </p:nvSpPr>
          <p:spPr>
            <a:xfrm>
              <a:off x="10833100" y="25273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620EAE5D-5139-E7D8-4C97-37F3B8612080}"/>
                </a:ext>
              </a:extLst>
            </p:cNvPr>
            <p:cNvSpPr/>
            <p:nvPr/>
          </p:nvSpPr>
          <p:spPr>
            <a:xfrm>
              <a:off x="10388600" y="26162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8B5957FB-B83B-C9C8-8841-1EAF6C3378B2}"/>
                </a:ext>
              </a:extLst>
            </p:cNvPr>
            <p:cNvSpPr/>
            <p:nvPr/>
          </p:nvSpPr>
          <p:spPr>
            <a:xfrm>
              <a:off x="10744200" y="26162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2CF85DA6-1D02-21D4-CD83-78005CA40D02}"/>
                </a:ext>
              </a:extLst>
            </p:cNvPr>
            <p:cNvSpPr/>
            <p:nvPr/>
          </p:nvSpPr>
          <p:spPr>
            <a:xfrm>
              <a:off x="10477500" y="27051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B43689A6-AB4E-27C1-E472-0307F5FA5877}"/>
                </a:ext>
              </a:extLst>
            </p:cNvPr>
            <p:cNvSpPr/>
            <p:nvPr/>
          </p:nvSpPr>
          <p:spPr>
            <a:xfrm>
              <a:off x="10655300" y="27051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2" name="Прямоугольник 31">
              <a:extLst>
                <a:ext uri="{FF2B5EF4-FFF2-40B4-BE49-F238E27FC236}">
                  <a16:creationId xmlns:a16="http://schemas.microsoft.com/office/drawing/2014/main" id="{8E3A6CD2-EBBE-ED52-926C-59C78F7B3F0B}"/>
                </a:ext>
              </a:extLst>
            </p:cNvPr>
            <p:cNvSpPr/>
            <p:nvPr/>
          </p:nvSpPr>
          <p:spPr>
            <a:xfrm>
              <a:off x="10566400" y="2794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728B6187-F359-586D-75C2-AA32D67C8532}"/>
              </a:ext>
            </a:extLst>
          </p:cNvPr>
          <p:cNvSpPr txBox="1"/>
          <p:nvPr/>
        </p:nvSpPr>
        <p:spPr>
          <a:xfrm>
            <a:off x="609600" y="1625600"/>
            <a:ext cx="762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250" dirty="0">
                <a:solidFill>
                  <a:srgbClr val="FFFFFF"/>
                </a:solidFill>
                <a:latin typeface="Arial" panose="020B0604020202020204" pitchFamily="34" charset="0"/>
              </a:rPr>
              <a:t>СТАРТАП-ХАКАТОН 2026</a:t>
            </a: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972CC023-D9A1-9F97-7CFF-6F148DC343F1}"/>
              </a:ext>
            </a:extLst>
          </p:cNvPr>
          <p:cNvSpPr/>
          <p:nvPr/>
        </p:nvSpPr>
        <p:spPr>
          <a:xfrm>
            <a:off x="609600" y="1930400"/>
            <a:ext cx="3810000" cy="355600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051C4D-C2D3-218E-5D63-67C041D03B02}"/>
              </a:ext>
            </a:extLst>
          </p:cNvPr>
          <p:cNvSpPr txBox="1"/>
          <p:nvPr/>
        </p:nvSpPr>
        <p:spPr>
          <a:xfrm>
            <a:off x="812800" y="1993900"/>
            <a:ext cx="3683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050" b="1">
                <a:solidFill>
                  <a:srgbClr val="FFFFFF"/>
                </a:solidFill>
                <a:latin typeface="Arial" panose="020B0604020202020204" pitchFamily="34" charset="0"/>
              </a:rPr>
              <a:t>Акселерационная программа «Пятый элемент»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CF0412-5BC6-90F9-C73E-BF2F45C3AC0B}"/>
              </a:ext>
            </a:extLst>
          </p:cNvPr>
          <p:cNvSpPr txBox="1"/>
          <p:nvPr/>
        </p:nvSpPr>
        <p:spPr>
          <a:xfrm>
            <a:off x="609600" y="2590800"/>
            <a:ext cx="8890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4400" dirty="0" err="1">
                <a:solidFill>
                  <a:srgbClr val="FFFFFF"/>
                </a:solidFill>
                <a:latin typeface="Arial Black" panose="020B0A04020102020204" pitchFamily="34" charset="0"/>
              </a:rPr>
              <a:t>ГеоДом</a:t>
            </a:r>
            <a:endParaRPr lang="ru-RU" sz="4400" dirty="0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7EA6F9-5630-AF1F-E9DA-3DF5F5868B56}"/>
              </a:ext>
            </a:extLst>
          </p:cNvPr>
          <p:cNvSpPr txBox="1"/>
          <p:nvPr/>
        </p:nvSpPr>
        <p:spPr>
          <a:xfrm>
            <a:off x="609600" y="3454400"/>
            <a:ext cx="812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ru-RU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3F9118C-15BA-1E8B-1E0A-45868046F99C}"/>
              </a:ext>
            </a:extLst>
          </p:cNvPr>
          <p:cNvSpPr txBox="1"/>
          <p:nvPr/>
        </p:nvSpPr>
        <p:spPr>
          <a:xfrm>
            <a:off x="609600" y="4394200"/>
            <a:ext cx="254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FFFFFF"/>
                </a:solidFill>
                <a:latin typeface="Arial" panose="020B0604020202020204" pitchFamily="34" charset="0"/>
              </a:rPr>
              <a:t>КОМАНДА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B1BE7A-32D5-3014-AC78-9EADA83AF651}"/>
              </a:ext>
            </a:extLst>
          </p:cNvPr>
          <p:cNvSpPr txBox="1"/>
          <p:nvPr/>
        </p:nvSpPr>
        <p:spPr>
          <a:xfrm>
            <a:off x="609600" y="4597400"/>
            <a:ext cx="3175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500" b="1" dirty="0">
                <a:solidFill>
                  <a:srgbClr val="FFFFFF"/>
                </a:solidFill>
                <a:latin typeface="Arial" panose="020B0604020202020204" pitchFamily="34" charset="0"/>
              </a:rPr>
              <a:t>Тройка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64D589-E2BB-51D1-B6F4-D7B45B50523D}"/>
              </a:ext>
            </a:extLst>
          </p:cNvPr>
          <p:cNvSpPr txBox="1"/>
          <p:nvPr/>
        </p:nvSpPr>
        <p:spPr>
          <a:xfrm>
            <a:off x="4064000" y="4394200"/>
            <a:ext cx="254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FFFFFF"/>
                </a:solidFill>
                <a:latin typeface="Arial" panose="020B0604020202020204" pitchFamily="34" charset="0"/>
              </a:rPr>
              <a:t>УЧАСТНИКИ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CDCE6C-E0FC-A3CF-BC0F-EDD61BBAEB1F}"/>
              </a:ext>
            </a:extLst>
          </p:cNvPr>
          <p:cNvSpPr txBox="1"/>
          <p:nvPr/>
        </p:nvSpPr>
        <p:spPr>
          <a:xfrm>
            <a:off x="4064000" y="4597400"/>
            <a:ext cx="7112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</a:rPr>
              <a:t>Шадрин Артём — Продакт менеджер </a:t>
            </a: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</a:rPr>
              <a:t>&amp; </a:t>
            </a: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</a:rPr>
              <a:t>Аналитик · Жанов Михаил— </a:t>
            </a:r>
            <a:r>
              <a:rPr lang="ru-RU" sz="1200" dirty="0" err="1">
                <a:solidFill>
                  <a:srgbClr val="FFFFFF"/>
                </a:solidFill>
                <a:latin typeface="Arial" panose="020B0604020202020204" pitchFamily="34" charset="0"/>
              </a:rPr>
              <a:t>Бекендер</a:t>
            </a: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</a:rPr>
              <a:t> · Кужугет </a:t>
            </a:r>
            <a:r>
              <a:rPr lang="ru-RU" sz="1200" dirty="0" err="1">
                <a:solidFill>
                  <a:srgbClr val="FFFFFF"/>
                </a:solidFill>
                <a:latin typeface="Arial" panose="020B0604020202020204" pitchFamily="34" charset="0"/>
              </a:rPr>
              <a:t>Монгулек</a:t>
            </a: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</a:rPr>
              <a:t>— </a:t>
            </a:r>
            <a:r>
              <a:rPr lang="ru-RU" sz="1200" dirty="0" err="1">
                <a:solidFill>
                  <a:srgbClr val="FFFFFF"/>
                </a:solidFill>
                <a:latin typeface="Arial" panose="020B0604020202020204" pitchFamily="34" charset="0"/>
              </a:rPr>
              <a:t>Фротенд</a:t>
            </a: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</a:rPr>
              <a:t> разработчик </a:t>
            </a:r>
          </a:p>
        </p:txBody>
      </p: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0AC688F3-3A01-7D3D-4D1C-10A741D8271F}"/>
              </a:ext>
            </a:extLst>
          </p:cNvPr>
          <p:cNvCxnSpPr/>
          <p:nvPr/>
        </p:nvCxnSpPr>
        <p:spPr>
          <a:xfrm>
            <a:off x="609600" y="6070600"/>
            <a:ext cx="10972800" cy="0"/>
          </a:xfrm>
          <a:prstGeom prst="line">
            <a:avLst/>
          </a:prstGeom>
          <a:ln w="9525" cap="flat" cmpd="sng" algn="ctr">
            <a:solidFill>
              <a:srgbClr val="FFFFFF">
                <a:alpha val="6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CF0B3926-B1BC-713C-B406-97E6CEE1AB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62832"/>
            <a:ext cx="10045700" cy="104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302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142AC6-36E2-70D4-EF6D-C6CAA744E703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C39CE5-509C-B6D4-D694-018F30E11703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02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2699F8E6-E950-2849-B0B4-7F126F8DFA59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645EBB56-357A-5B5B-EAE6-54DF4B36C072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8464650-57A5-6038-3C19-ABD35C70CCED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1C33F275-B5A6-CD84-C8D6-43722379BC37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146BD27B-B30F-75D8-D038-BC482E3A83EE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BF987744-83E3-17B7-5EEE-1E7DC335CE03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2170354A-5759-6C04-3499-FF17F45AC393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0D939AC5-A903-76D1-630F-41B6111A29F3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0E2B040C-3D7F-9BB7-77B0-0210652FB3FE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CDF23A4A-FF68-DBA0-96EE-84B0CD1B3E54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8B2958C7-31FD-1CF5-A78B-6ECEB1F410B5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458F7045-378E-1F99-012A-CDF218F43DAA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8A9FD4C9-8DBD-C8C7-5064-DC523830DF16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088EEC14-237A-E305-4088-2E6873D9C017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6419D5A1-D3DB-DCE4-4122-CA0665D4DB36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4A57463D-7DAA-FFD4-FD1B-F7D83518391C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80A296D2-2543-8641-CC43-CBA2AB99CE6E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4A95BCB7-F087-60F3-5F9D-F619AAFC957C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E7C3DD72-1D87-E672-A3F1-E76FC17459F9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53F78585-866D-0E02-FFDB-F256D11A6D5D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8F91DB89-B1E2-9D92-EC27-7BC49DDA966B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91382261-F42F-B719-73A8-CA774DFE20FA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B207365F-4DAF-5588-DA13-5F816DC9369A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F33CFB26-3610-C0AB-C4D3-534D50F6B34C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18F27330-18D8-4158-3E93-EA307EE2F0D6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225CCF48-A646-3FD2-154F-541E3C9D3C54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D980ECCD-BAE5-E230-01FA-29A01E625AF0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1F641627-78AE-C00B-8C2C-082FF5070B3C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22436800-F9A7-4F14-CA87-26B24A96ADA7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42367323-C7AB-F481-DC33-CFBAA3FE512F}"/>
              </a:ext>
            </a:extLst>
          </p:cNvPr>
          <p:cNvSpPr txBox="1"/>
          <p:nvPr/>
        </p:nvSpPr>
        <p:spPr>
          <a:xfrm>
            <a:off x="731520" y="65913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ru-RU" sz="3000" dirty="0">
                <a:solidFill>
                  <a:srgbClr val="0F1B3D"/>
                </a:solidFill>
                <a:latin typeface="Arial Black" panose="020B0A04020102020204" pitchFamily="34" charset="0"/>
              </a:rPr>
              <a:t>Команда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B22CC22-D574-5FC4-E14D-44447AC146B5}"/>
              </a:ext>
            </a:extLst>
          </p:cNvPr>
          <p:cNvSpPr txBox="1"/>
          <p:nvPr/>
        </p:nvSpPr>
        <p:spPr>
          <a:xfrm>
            <a:off x="4588510" y="3886200"/>
            <a:ext cx="30137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ru-RU" sz="1400" dirty="0">
              <a:solidFill>
                <a:srgbClr val="0F1B3D"/>
              </a:solidFill>
              <a:latin typeface="Arial" panose="020B0604020202020204" pitchFamily="34" charset="0"/>
            </a:endParaRPr>
          </a:p>
        </p:txBody>
      </p:sp>
      <p:sp>
        <p:nvSpPr>
          <p:cNvPr id="52" name="Rounded Rectangle 1">
            <a:extLst>
              <a:ext uri="{FF2B5EF4-FFF2-40B4-BE49-F238E27FC236}">
                <a16:creationId xmlns:a16="http://schemas.microsoft.com/office/drawing/2014/main" id="{D4D756AA-C837-B03F-4F45-BF44BECFBD64}"/>
              </a:ext>
            </a:extLst>
          </p:cNvPr>
          <p:cNvSpPr/>
          <p:nvPr/>
        </p:nvSpPr>
        <p:spPr>
          <a:xfrm>
            <a:off x="4684603" y="4378123"/>
            <a:ext cx="2602494" cy="847725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3" name="Rounded Rectangle 2">
            <a:extLst>
              <a:ext uri="{FF2B5EF4-FFF2-40B4-BE49-F238E27FC236}">
                <a16:creationId xmlns:a16="http://schemas.microsoft.com/office/drawing/2014/main" id="{FECB1428-3F87-359A-E284-AE69EBBE9B07}"/>
              </a:ext>
            </a:extLst>
          </p:cNvPr>
          <p:cNvSpPr/>
          <p:nvPr/>
        </p:nvSpPr>
        <p:spPr>
          <a:xfrm>
            <a:off x="8339282" y="4444370"/>
            <a:ext cx="2602494" cy="847725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5" name="Rounded Rectangle 4">
            <a:extLst>
              <a:ext uri="{FF2B5EF4-FFF2-40B4-BE49-F238E27FC236}">
                <a16:creationId xmlns:a16="http://schemas.microsoft.com/office/drawing/2014/main" id="{2F186326-B731-9168-F371-BF3804663E4A}"/>
              </a:ext>
            </a:extLst>
          </p:cNvPr>
          <p:cNvSpPr/>
          <p:nvPr/>
        </p:nvSpPr>
        <p:spPr>
          <a:xfrm>
            <a:off x="685671" y="4363408"/>
            <a:ext cx="2602494" cy="847725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6" name="TextBox 17">
            <a:extLst>
              <a:ext uri="{FF2B5EF4-FFF2-40B4-BE49-F238E27FC236}">
                <a16:creationId xmlns:a16="http://schemas.microsoft.com/office/drawing/2014/main" id="{5F034BC4-76BA-09E9-20D7-7FC497224BCB}"/>
              </a:ext>
            </a:extLst>
          </p:cNvPr>
          <p:cNvSpPr txBox="1"/>
          <p:nvPr/>
        </p:nvSpPr>
        <p:spPr>
          <a:xfrm>
            <a:off x="4922728" y="4559098"/>
            <a:ext cx="1267526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500" b="1" i="0" u="none" dirty="0">
                <a:solidFill>
                  <a:srgbClr val="0F172A"/>
                </a:solidFill>
                <a:latin typeface="Plus Jakarta Sans"/>
              </a:rPr>
              <a:t>Жанов Михаил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57" name="TextBox 18">
            <a:extLst>
              <a:ext uri="{FF2B5EF4-FFF2-40B4-BE49-F238E27FC236}">
                <a16:creationId xmlns:a16="http://schemas.microsoft.com/office/drawing/2014/main" id="{6D584166-3CBB-97ED-CA95-E93ABCCF5F89}"/>
              </a:ext>
            </a:extLst>
          </p:cNvPr>
          <p:cNvSpPr txBox="1"/>
          <p:nvPr/>
        </p:nvSpPr>
        <p:spPr>
          <a:xfrm>
            <a:off x="4922728" y="4844848"/>
            <a:ext cx="52245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b="0" i="0" u="none" dirty="0">
                <a:solidFill>
                  <a:srgbClr val="64748B"/>
                </a:solidFill>
                <a:latin typeface="Plus Jakarta Sans"/>
              </a:rPr>
              <a:t>backend</a:t>
            </a:r>
            <a:endParaRPr sz="1200" b="0" i="0" u="none" dirty="0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58" name="TextBox 19">
            <a:extLst>
              <a:ext uri="{FF2B5EF4-FFF2-40B4-BE49-F238E27FC236}">
                <a16:creationId xmlns:a16="http://schemas.microsoft.com/office/drawing/2014/main" id="{2547A341-0057-E4A8-9CB2-B394F94E23D1}"/>
              </a:ext>
            </a:extLst>
          </p:cNvPr>
          <p:cNvSpPr txBox="1"/>
          <p:nvPr/>
        </p:nvSpPr>
        <p:spPr>
          <a:xfrm>
            <a:off x="8577407" y="4625345"/>
            <a:ext cx="1531060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500" b="1" dirty="0">
                <a:solidFill>
                  <a:srgbClr val="0F172A"/>
                </a:solidFill>
                <a:latin typeface="Plus Jakarta Sans"/>
              </a:rPr>
              <a:t>Кужугет </a:t>
            </a:r>
            <a:r>
              <a:rPr lang="ru-RU" sz="1500" b="1" dirty="0" err="1">
                <a:solidFill>
                  <a:srgbClr val="0F172A"/>
                </a:solidFill>
                <a:latin typeface="Plus Jakarta Sans"/>
              </a:rPr>
              <a:t>Монгулек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59" name="TextBox 20">
            <a:extLst>
              <a:ext uri="{FF2B5EF4-FFF2-40B4-BE49-F238E27FC236}">
                <a16:creationId xmlns:a16="http://schemas.microsoft.com/office/drawing/2014/main" id="{18E4DAC3-B2BB-CDD6-97AF-BF7ED8CAC5BC}"/>
              </a:ext>
            </a:extLst>
          </p:cNvPr>
          <p:cNvSpPr txBox="1"/>
          <p:nvPr/>
        </p:nvSpPr>
        <p:spPr>
          <a:xfrm>
            <a:off x="8577407" y="4911095"/>
            <a:ext cx="56829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b="0" i="0" u="none" dirty="0">
                <a:solidFill>
                  <a:srgbClr val="64748B"/>
                </a:solidFill>
                <a:latin typeface="Plus Jakarta Sans"/>
              </a:rPr>
              <a:t>Frontend</a:t>
            </a:r>
            <a:endParaRPr sz="1200" b="0" i="0" u="none" dirty="0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60" name="TextBox 23">
            <a:extLst>
              <a:ext uri="{FF2B5EF4-FFF2-40B4-BE49-F238E27FC236}">
                <a16:creationId xmlns:a16="http://schemas.microsoft.com/office/drawing/2014/main" id="{5492D0FD-ADF4-6555-8BE1-1927DF97AE59}"/>
              </a:ext>
            </a:extLst>
          </p:cNvPr>
          <p:cNvSpPr txBox="1"/>
          <p:nvPr/>
        </p:nvSpPr>
        <p:spPr>
          <a:xfrm>
            <a:off x="923796" y="4544383"/>
            <a:ext cx="1263744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500" b="1" i="0" u="none" dirty="0">
                <a:solidFill>
                  <a:srgbClr val="0F172A"/>
                </a:solidFill>
                <a:latin typeface="Plus Jakarta Sans"/>
              </a:rPr>
              <a:t>Шадрин Артём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61" name="TextBox 24">
            <a:extLst>
              <a:ext uri="{FF2B5EF4-FFF2-40B4-BE49-F238E27FC236}">
                <a16:creationId xmlns:a16="http://schemas.microsoft.com/office/drawing/2014/main" id="{0A2F35CE-A44C-382B-C9AC-C799AD41DB6B}"/>
              </a:ext>
            </a:extLst>
          </p:cNvPr>
          <p:cNvSpPr txBox="1"/>
          <p:nvPr/>
        </p:nvSpPr>
        <p:spPr>
          <a:xfrm>
            <a:off x="923796" y="4830133"/>
            <a:ext cx="52488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Product </a:t>
            </a:r>
          </a:p>
        </p:txBody>
      </p:sp>
      <p:sp>
        <p:nvSpPr>
          <p:cNvPr id="36" name="AutoShape 2" descr="Сгенерированное изображение 1">
            <a:extLst>
              <a:ext uri="{FF2B5EF4-FFF2-40B4-BE49-F238E27FC236}">
                <a16:creationId xmlns:a16="http://schemas.microsoft.com/office/drawing/2014/main" id="{FD206C6F-0499-8060-F48E-AEE5A41D47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" name="AutoShape 4" descr="Сгенерированное изображение 1">
            <a:extLst>
              <a:ext uri="{FF2B5EF4-FFF2-40B4-BE49-F238E27FC236}">
                <a16:creationId xmlns:a16="http://schemas.microsoft.com/office/drawing/2014/main" id="{FEC0AF30-4FF1-0D82-B639-5FA2A94279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D43AA5C0-FC7F-DAE3-5680-9FE4BC8AB8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1958" y="1698989"/>
            <a:ext cx="2473123" cy="2473123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2C10D7F1-1F26-3C4D-27F3-B0E047D9B4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8874" y="1565905"/>
            <a:ext cx="2049165" cy="2787920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D06CEB45-79AD-7E50-EABA-86DC22A6F9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427" y="1698989"/>
            <a:ext cx="1786912" cy="2473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070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142AC6-36E2-70D4-EF6D-C6CAA744E703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C39CE5-509C-B6D4-D694-018F30E11703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03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2699F8E6-E950-2849-B0B4-7F126F8DFA59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645EBB56-357A-5B5B-EAE6-54DF4B36C072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8464650-57A5-6038-3C19-ABD35C70CCED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1C33F275-B5A6-CD84-C8D6-43722379BC37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146BD27B-B30F-75D8-D038-BC482E3A83EE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BF987744-83E3-17B7-5EEE-1E7DC335CE03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2170354A-5759-6C04-3499-FF17F45AC393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0D939AC5-A903-76D1-630F-41B6111A29F3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0E2B040C-3D7F-9BB7-77B0-0210652FB3FE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CDF23A4A-FF68-DBA0-96EE-84B0CD1B3E54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8B2958C7-31FD-1CF5-A78B-6ECEB1F410B5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458F7045-378E-1F99-012A-CDF218F43DAA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8A9FD4C9-8DBD-C8C7-5064-DC523830DF16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088EEC14-237A-E305-4088-2E6873D9C017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6419D5A1-D3DB-DCE4-4122-CA0665D4DB36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4A57463D-7DAA-FFD4-FD1B-F7D83518391C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80A296D2-2543-8641-CC43-CBA2AB99CE6E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4A95BCB7-F087-60F3-5F9D-F619AAFC957C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E7C3DD72-1D87-E672-A3F1-E76FC17459F9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53F78585-866D-0E02-FFDB-F256D11A6D5D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8F91DB89-B1E2-9D92-EC27-7BC49DDA966B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91382261-F42F-B719-73A8-CA774DFE20FA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B207365F-4DAF-5588-DA13-5F816DC9369A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F33CFB26-3610-C0AB-C4D3-534D50F6B34C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18F27330-18D8-4158-3E93-EA307EE2F0D6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225CCF48-A646-3FD2-154F-541E3C9D3C54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D980ECCD-BAE5-E230-01FA-29A01E625AF0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1F641627-78AE-C00B-8C2C-082FF5070B3C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22436800-F9A7-4F14-CA87-26B24A96ADA7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42367323-C7AB-F481-DC33-CFBAA3FE512F}"/>
              </a:ext>
            </a:extLst>
          </p:cNvPr>
          <p:cNvSpPr txBox="1"/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>
                <a:solidFill>
                  <a:srgbClr val="0F1B3D"/>
                </a:solidFill>
                <a:latin typeface="Arial Black" panose="020B0A04020102020204" pitchFamily="34" charset="0"/>
              </a:rPr>
              <a:t>Проблема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F9379CB4-CC7E-4EFF-1243-CDFEF0CC1009}"/>
              </a:ext>
            </a:extLst>
          </p:cNvPr>
          <p:cNvSpPr/>
          <p:nvPr/>
        </p:nvSpPr>
        <p:spPr>
          <a:xfrm>
            <a:off x="609600" y="1320800"/>
            <a:ext cx="10972800" cy="1219200"/>
          </a:xfrm>
          <a:prstGeom prst="roundRect">
            <a:avLst>
              <a:gd name="adj" fmla="val 12000"/>
            </a:avLst>
          </a:prstGeom>
          <a:solidFill>
            <a:srgbClr val="0F1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2355CD-76F6-2B0B-F764-A753395F9BBF}"/>
              </a:ext>
            </a:extLst>
          </p:cNvPr>
          <p:cNvSpPr txBox="1"/>
          <p:nvPr/>
        </p:nvSpPr>
        <p:spPr>
          <a:xfrm>
            <a:off x="914400" y="1498600"/>
            <a:ext cx="254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7FE3C4"/>
                </a:solidFill>
                <a:latin typeface="Arial" panose="020B0604020202020204" pitchFamily="34" charset="0"/>
              </a:rPr>
              <a:t>ГЛАВНАЯ ПРОБЛЕМА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60AB8A-4721-6C80-8320-2DAF3DF2FB18}"/>
              </a:ext>
            </a:extLst>
          </p:cNvPr>
          <p:cNvSpPr txBox="1"/>
          <p:nvPr/>
        </p:nvSpPr>
        <p:spPr>
          <a:xfrm>
            <a:off x="914400" y="1727200"/>
            <a:ext cx="103632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b="1" dirty="0">
                <a:solidFill>
                  <a:srgbClr val="FFFFFF"/>
                </a:solidFill>
                <a:latin typeface="Arial" panose="020B0604020202020204" pitchFamily="34" charset="0"/>
              </a:rPr>
              <a:t>Покупателю</a:t>
            </a: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</a:rPr>
              <a:t>/</a:t>
            </a:r>
            <a:r>
              <a:rPr lang="ru-RU" b="1" dirty="0">
                <a:solidFill>
                  <a:srgbClr val="FFFFFF"/>
                </a:solidFill>
                <a:latin typeface="Arial" panose="020B0604020202020204" pitchFamily="34" charset="0"/>
              </a:rPr>
              <a:t>съемщику жилья сложно выбрать подходящий вариант , потому что ему приходиться в ручную сопоставлять цену, район, инфраструктуру и время до работы </a:t>
            </a: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95FE0FDC-E5FA-1DA0-A072-601F577D9C4E}"/>
              </a:ext>
            </a:extLst>
          </p:cNvPr>
          <p:cNvSpPr/>
          <p:nvPr/>
        </p:nvSpPr>
        <p:spPr>
          <a:xfrm>
            <a:off x="609600" y="2794000"/>
            <a:ext cx="3521710" cy="2971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19959E8F-44EF-9D71-59A2-88ECA96F6163}"/>
              </a:ext>
            </a:extLst>
          </p:cNvPr>
          <p:cNvSpPr/>
          <p:nvPr/>
        </p:nvSpPr>
        <p:spPr>
          <a:xfrm>
            <a:off x="863600" y="30480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CE03E8-EF9F-50BD-2D87-AC6E79E36716}"/>
              </a:ext>
            </a:extLst>
          </p:cNvPr>
          <p:cNvSpPr txBox="1"/>
          <p:nvPr/>
        </p:nvSpPr>
        <p:spPr>
          <a:xfrm>
            <a:off x="863600" y="3581400"/>
            <a:ext cx="301371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100" dirty="0">
                <a:solidFill>
                  <a:srgbClr val="22A889"/>
                </a:solidFill>
                <a:latin typeface="Arial" panose="020B0604020202020204" pitchFamily="34" charset="0"/>
              </a:rPr>
              <a:t>КТО?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4DCEA2-6731-B78E-231A-47649E58B130}"/>
              </a:ext>
            </a:extLst>
          </p:cNvPr>
          <p:cNvSpPr txBox="1"/>
          <p:nvPr/>
        </p:nvSpPr>
        <p:spPr>
          <a:xfrm>
            <a:off x="863600" y="3886200"/>
            <a:ext cx="30137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 dirty="0"/>
              <a:t>Покупатели</a:t>
            </a:r>
            <a:r>
              <a:rPr lang="en-US" sz="1400" dirty="0"/>
              <a:t>/</a:t>
            </a:r>
            <a:r>
              <a:rPr lang="ru-RU" sz="1400" dirty="0"/>
              <a:t>съемщики жилья, которым важно учитывать не только цену и характеристики квартиры, но и район, инфраструктуру, транспорт и время до работы.</a:t>
            </a:r>
            <a:endParaRPr lang="ru-RU" sz="1400" dirty="0">
              <a:solidFill>
                <a:srgbClr val="0F1B3D"/>
              </a:solidFill>
              <a:latin typeface="Arial" panose="020B0604020202020204" pitchFamily="34" charset="0"/>
            </a:endParaRPr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8D97D51E-E4E2-AF70-D55A-9FE318658D4A}"/>
              </a:ext>
            </a:extLst>
          </p:cNvPr>
          <p:cNvSpPr/>
          <p:nvPr/>
        </p:nvSpPr>
        <p:spPr>
          <a:xfrm>
            <a:off x="4334510" y="2794000"/>
            <a:ext cx="3521710" cy="2971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7AC1118F-0CDC-DD46-94EA-A99AE1146161}"/>
              </a:ext>
            </a:extLst>
          </p:cNvPr>
          <p:cNvSpPr/>
          <p:nvPr/>
        </p:nvSpPr>
        <p:spPr>
          <a:xfrm>
            <a:off x="4588510" y="30480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4229335-D9FD-65E0-03BA-FE7DADF9D87F}"/>
              </a:ext>
            </a:extLst>
          </p:cNvPr>
          <p:cNvSpPr txBox="1"/>
          <p:nvPr/>
        </p:nvSpPr>
        <p:spPr>
          <a:xfrm>
            <a:off x="4588510" y="3581400"/>
            <a:ext cx="301371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100" dirty="0">
                <a:solidFill>
                  <a:srgbClr val="22A889"/>
                </a:solidFill>
                <a:latin typeface="Arial" panose="020B0604020202020204" pitchFamily="34" charset="0"/>
              </a:rPr>
              <a:t>ЧТО ПРОИСХОДИТ?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B22CC22-D574-5FC4-E14D-44447AC146B5}"/>
              </a:ext>
            </a:extLst>
          </p:cNvPr>
          <p:cNvSpPr txBox="1"/>
          <p:nvPr/>
        </p:nvSpPr>
        <p:spPr>
          <a:xfrm>
            <a:off x="4588510" y="3886200"/>
            <a:ext cx="30137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 dirty="0"/>
              <a:t>Пользователю приходится вручную собирать и сравнивать данные о квартире, районе, инфраструктуре и маршрутах из нескольких разных сервисов, из-за чего сложно понять, какой вариант подходит именно ему.</a:t>
            </a:r>
            <a:endParaRPr lang="ru-RU" sz="1400" dirty="0">
              <a:solidFill>
                <a:srgbClr val="0F1B3D"/>
              </a:solidFill>
              <a:latin typeface="Arial" panose="020B0604020202020204" pitchFamily="34" charset="0"/>
            </a:endParaRPr>
          </a:p>
        </p:txBody>
      </p: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2184B6B5-01CE-EBC9-F489-ADC3ABDB42ED}"/>
              </a:ext>
            </a:extLst>
          </p:cNvPr>
          <p:cNvSpPr/>
          <p:nvPr/>
        </p:nvSpPr>
        <p:spPr>
          <a:xfrm>
            <a:off x="8059420" y="2794000"/>
            <a:ext cx="3521710" cy="2971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FD0B530A-1A02-2574-E468-35B6C7E93FB3}"/>
              </a:ext>
            </a:extLst>
          </p:cNvPr>
          <p:cNvSpPr/>
          <p:nvPr/>
        </p:nvSpPr>
        <p:spPr>
          <a:xfrm>
            <a:off x="8313420" y="30480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82C76D2-87C6-94CA-DD3C-C594F3B9D8D3}"/>
              </a:ext>
            </a:extLst>
          </p:cNvPr>
          <p:cNvSpPr txBox="1"/>
          <p:nvPr/>
        </p:nvSpPr>
        <p:spPr>
          <a:xfrm>
            <a:off x="8313420" y="3581400"/>
            <a:ext cx="301371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100" dirty="0">
                <a:solidFill>
                  <a:srgbClr val="22A889"/>
                </a:solidFill>
                <a:latin typeface="Arial" panose="020B0604020202020204" pitchFamily="34" charset="0"/>
              </a:rPr>
              <a:t>ПОЧЕМУ ЭТО ВАЖНО?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C203677-9668-42BA-013B-8EFB8A91822B}"/>
              </a:ext>
            </a:extLst>
          </p:cNvPr>
          <p:cNvSpPr txBox="1"/>
          <p:nvPr/>
        </p:nvSpPr>
        <p:spPr>
          <a:xfrm>
            <a:off x="8313420" y="3886200"/>
            <a:ext cx="30137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 dirty="0"/>
              <a:t>Из-за разрозненных данных пользователь тратит больше времени на выбор, получает неполную картину и рискует принять дорогое решение, не учитывающее его реальный образ жизни.</a:t>
            </a:r>
            <a:endParaRPr lang="ru-RU" sz="1400" dirty="0">
              <a:solidFill>
                <a:srgbClr val="0F1B3D"/>
              </a:solidFill>
              <a:latin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1BD000B-552E-4E7A-CED1-5AE0AAD01399}"/>
              </a:ext>
            </a:extLst>
          </p:cNvPr>
          <p:cNvSpPr txBox="1"/>
          <p:nvPr/>
        </p:nvSpPr>
        <p:spPr>
          <a:xfrm>
            <a:off x="838200" y="61722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ru-RU" sz="900" b="1" spc="100" dirty="0">
              <a:solidFill>
                <a:srgbClr val="22A88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3398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mage(4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8952" y="3246120"/>
            <a:ext cx="3429000" cy="2212848"/>
          </a:xfrm>
          <a:prstGeom prst="rect">
            <a:avLst/>
          </a:prstGeom>
          <a:solidFill>
            <a:srgbClr val="F4F8FA"/>
          </a:solidFill>
          <a:ln w="12700">
            <a:solidFill>
              <a:srgbClr val="F4F8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532120" y="1847088"/>
            <a:ext cx="5623560" cy="704088"/>
          </a:xfrm>
          <a:prstGeom prst="rect">
            <a:avLst/>
          </a:prstGeom>
          <a:solidFill>
            <a:srgbClr val="F4F8FA"/>
          </a:solidFill>
          <a:ln w="12700">
            <a:solidFill>
              <a:srgbClr val="F4F8F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532120" y="3346704"/>
            <a:ext cx="5623560" cy="731520"/>
          </a:xfrm>
          <a:prstGeom prst="rect">
            <a:avLst/>
          </a:prstGeom>
          <a:solidFill>
            <a:srgbClr val="F4F8FA"/>
          </a:solidFill>
          <a:ln w="12700">
            <a:solidFill>
              <a:srgbClr val="F4F8F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532120" y="4846320"/>
            <a:ext cx="5623560" cy="731520"/>
          </a:xfrm>
          <a:prstGeom prst="rect">
            <a:avLst/>
          </a:prstGeom>
          <a:solidFill>
            <a:srgbClr val="F4F8FA"/>
          </a:solidFill>
          <a:ln w="12700">
            <a:solidFill>
              <a:srgbClr val="F4F8F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6384" y="6062472"/>
            <a:ext cx="10716768" cy="310896"/>
          </a:xfrm>
          <a:prstGeom prst="rect">
            <a:avLst/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81328" y="331927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10" dirty="0">
                <a:solidFill>
                  <a:srgbClr val="0DA5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B2C + B2B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87552" y="3639312"/>
            <a:ext cx="301752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D9E5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52144" y="373075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D"/>
                </a:solidFill>
              </a:rPr>
              <a:t>B2C  Покупатель / арендатор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52144" y="396849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1708B"/>
                </a:solidFill>
              </a:rPr>
              <a:t>25–64 лет · Красноярск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61708B"/>
                </a:solidFill>
              </a:rPr>
              <a:t>Выбирает жильё для себя или семьи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987552" y="4498848"/>
            <a:ext cx="3017520" cy="804672"/>
          </a:xfrm>
          <a:prstGeom prst="roundRect">
            <a:avLst>
              <a:gd name="adj" fmla="val 9091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D9E5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52144" y="459943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D"/>
                </a:solidFill>
              </a:rPr>
              <a:t>B2B  Профессиональный рынок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52144" y="483717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61708B"/>
                </a:solidFill>
              </a:rPr>
              <a:t>Риелторы и агентства · застройщики · банки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61708B"/>
                </a:solidFill>
              </a:rPr>
              <a:t>Важно: лиды, спрос, аналитика, ипотечные обращения</a:t>
            </a:r>
            <a:endParaRPr lang="en-US" sz="930" dirty="0"/>
          </a:p>
        </p:txBody>
      </p:sp>
      <p:sp>
        <p:nvSpPr>
          <p:cNvPr id="15" name="Text 12"/>
          <p:cNvSpPr/>
          <p:nvPr/>
        </p:nvSpPr>
        <p:spPr>
          <a:xfrm>
            <a:off x="5577840" y="1874520"/>
            <a:ext cx="5504688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DA5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B2C — </a:t>
            </a:r>
            <a:r>
              <a:rPr lang="en-US" sz="1200" dirty="0">
                <a:solidFill>
                  <a:srgbClr val="0F1B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покупатели жилья в Красноярске, сравнивающие несколько вариантов перед решением.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A5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B2B —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B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участники рынка, которым нужен доступ к квалифицированному спросу и аналитике.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577840" y="3374136"/>
            <a:ext cx="5504688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0DA5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B2C — </a:t>
            </a:r>
            <a:r>
              <a:rPr lang="en-US" sz="1160" dirty="0">
                <a:solidFill>
                  <a:srgbClr val="0F1B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активный поиск жилья: бюджет + семья + работа + район + личные приоритеты.</a:t>
            </a:r>
            <a:endParaRPr lang="en-US" sz="1160" dirty="0"/>
          </a:p>
          <a:p>
            <a:pPr marL="0" indent="0">
              <a:buNone/>
            </a:pPr>
            <a:r>
              <a:rPr lang="en-US" sz="1160" b="1" dirty="0">
                <a:solidFill>
                  <a:srgbClr val="0DA5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B2B — 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0F1B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риелторы/агентства → Pro; застройщики → лиды + B2B-сервис + Analytics; банки → ипотечные лиды и интеграции.</a:t>
            </a:r>
            <a:endParaRPr lang="en-US" sz="1160" dirty="0"/>
          </a:p>
        </p:txBody>
      </p:sp>
      <p:sp>
        <p:nvSpPr>
          <p:cNvPr id="17" name="Text 14"/>
          <p:cNvSpPr/>
          <p:nvPr/>
        </p:nvSpPr>
        <p:spPr>
          <a:xfrm>
            <a:off x="5577840" y="4864608"/>
            <a:ext cx="5504688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DA5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B2C — </a:t>
            </a:r>
            <a:r>
              <a:rPr lang="en-US" sz="1150" dirty="0">
                <a:solidFill>
                  <a:srgbClr val="0F1B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объявления, карты, маршруты и ипотека разнесены по разным сервисам — сравнение остаётся ручным.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DA5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B2B —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B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GeoDom фиксирует сформированный интерес пользователя и превращает его в квалифицированный лид и данные о спросе.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59536" y="612648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kern="0" spc="80" dirty="0">
                <a:solidFill>
                  <a:srgbClr val="0DA5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ФОКУС MVP</a:t>
            </a:r>
            <a:endParaRPr lang="en-US" sz="860" dirty="0"/>
          </a:p>
        </p:txBody>
      </p:sp>
      <p:sp>
        <p:nvSpPr>
          <p:cNvPr id="19" name="Text 16"/>
          <p:cNvSpPr/>
          <p:nvPr/>
        </p:nvSpPr>
        <p:spPr>
          <a:xfrm>
            <a:off x="2057400" y="6117336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2567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Сначала решаем B2C-задачу выбора жилья. B2B-монетизация строится поверх квалифицированного спроса и данных о предпочтениях.</a:t>
            </a:r>
            <a:endParaRPr lang="en-US" sz="920" dirty="0"/>
          </a:p>
        </p:txBody>
      </p:sp>
      <p:sp>
        <p:nvSpPr>
          <p:cNvPr id="20" name="Text 17"/>
          <p:cNvSpPr/>
          <p:nvPr/>
        </p:nvSpPr>
        <p:spPr>
          <a:xfrm>
            <a:off x="7955280" y="6620256"/>
            <a:ext cx="3520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93A0B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Основание: исследование GeoDom + бизнес-модель GeoDom</a:t>
            </a:r>
            <a:endParaRPr lang="en-US" sz="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256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170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mage(5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6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32104" y="1719072"/>
            <a:ext cx="6080760" cy="941832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68680" y="1719072"/>
            <a:ext cx="604418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GeoDom — персональный сервис выбора жилья. </a:t>
            </a:r>
            <a:r>
              <a:rPr lang="en-US" sz="168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Он объединяет квартиру, район, маршруты, инфраструктуру и финансовый сценарий в одной понятной рекомендации.</a:t>
            </a:r>
            <a:endParaRPr lang="en-US" sz="1680" dirty="0"/>
          </a:p>
        </p:txBody>
      </p:sp>
      <p:sp>
        <p:nvSpPr>
          <p:cNvPr id="5" name="Text 2"/>
          <p:cNvSpPr/>
          <p:nvPr/>
        </p:nvSpPr>
        <p:spPr>
          <a:xfrm>
            <a:off x="832104" y="2560320"/>
            <a:ext cx="5989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DDE7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Для B2B GeoDom превращает сформированный интерес пользователей в квалифицированные лиды и агрегированную аналитику спроса.</a:t>
            </a:r>
            <a:endParaRPr lang="en-US" sz="1090" dirty="0"/>
          </a:p>
        </p:txBody>
      </p:sp>
      <p:sp>
        <p:nvSpPr>
          <p:cNvPr id="6" name="Shape 3"/>
          <p:cNvSpPr/>
          <p:nvPr/>
        </p:nvSpPr>
        <p:spPr>
          <a:xfrm>
            <a:off x="731520" y="4590288"/>
            <a:ext cx="1691640" cy="498348"/>
          </a:xfrm>
          <a:prstGeom prst="rect">
            <a:avLst/>
          </a:prstGeom>
          <a:solidFill>
            <a:srgbClr val="F4F8FA"/>
          </a:solidFill>
          <a:ln w="12700">
            <a:solidFill>
              <a:srgbClr val="F4F8F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63240" y="4590288"/>
            <a:ext cx="1755648" cy="658368"/>
          </a:xfrm>
          <a:prstGeom prst="rect">
            <a:avLst/>
          </a:prstGeom>
          <a:solidFill>
            <a:srgbClr val="F4F8FA"/>
          </a:solidFill>
          <a:ln w="12700">
            <a:solidFill>
              <a:srgbClr val="F4F8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94960" y="4590288"/>
            <a:ext cx="1709928" cy="658368"/>
          </a:xfrm>
          <a:prstGeom prst="rect">
            <a:avLst/>
          </a:prstGeom>
          <a:solidFill>
            <a:srgbClr val="F4F8FA"/>
          </a:solidFill>
          <a:ln w="12700">
            <a:solidFill>
              <a:srgbClr val="F4F8F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" y="4290589"/>
            <a:ext cx="461772" cy="276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0DA58A"/>
                </a:solidFill>
              </a:rPr>
              <a:t>B2C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4506" y="4578531"/>
            <a:ext cx="1572768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170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Пользователь вручную сопоставляет квартиру, район, инфраструктуру и время в пути в разных сервисах.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58952" y="5052060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0DA58A"/>
                </a:solidFill>
              </a:rPr>
              <a:t>B2B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90372" y="5218285"/>
            <a:ext cx="157276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170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Бизнесу не хватает контекста реального спроса и качества намерения клиента.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994660" y="4382915"/>
            <a:ext cx="1824228" cy="114920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0DA5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 Собираем профиль
</a:t>
            </a:r>
            <a:r>
              <a:rPr lang="en-US" sz="840" dirty="0">
                <a:solidFill>
                  <a:srgbClr val="6170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бюджет · семья · работа · приоритеты
</a:t>
            </a:r>
            <a:r>
              <a:rPr lang="en-US" sz="840" b="1" dirty="0">
                <a:solidFill>
                  <a:srgbClr val="0DA5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 Считаем окружение
</a:t>
            </a:r>
            <a:r>
              <a:rPr lang="en-US" sz="840" dirty="0">
                <a:solidFill>
                  <a:srgbClr val="6170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жильё · район · маршруты · инфраструктура · финансы
</a:t>
            </a:r>
            <a:r>
              <a:rPr lang="en-US" sz="840" b="1" dirty="0">
                <a:solidFill>
                  <a:srgbClr val="0DA5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 Ранжируем
</a:t>
            </a:r>
            <a:r>
              <a:rPr lang="en-US" sz="840" dirty="0">
                <a:solidFill>
                  <a:srgbClr val="6170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персональный балл + объяснение; сформированный интерес → B2B-сигнал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5442266" y="4290589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kern="0" spc="50" dirty="0">
                <a:solidFill>
                  <a:srgbClr val="0DA58A"/>
                </a:solidFill>
              </a:rPr>
              <a:t>B2C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5422392" y="4526280"/>
            <a:ext cx="157276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6170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Понятное сравнение вариантов и ответ: «что подходит именно мне и почему».</a:t>
            </a:r>
            <a:endParaRPr lang="en-US" sz="930" dirty="0"/>
          </a:p>
        </p:txBody>
      </p:sp>
      <p:sp>
        <p:nvSpPr>
          <p:cNvPr id="16" name="Text 13"/>
          <p:cNvSpPr/>
          <p:nvPr/>
        </p:nvSpPr>
        <p:spPr>
          <a:xfrm>
            <a:off x="5442266" y="4983480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kern="0" spc="50" dirty="0">
                <a:solidFill>
                  <a:srgbClr val="0DA58A"/>
                </a:solidFill>
              </a:rPr>
              <a:t>B2B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5422392" y="5193792"/>
            <a:ext cx="1572768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170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Квалифицированный лид с контекстом потребности + агрегированная аналитика спроса.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874520" y="6144768"/>
            <a:ext cx="9555480" cy="246888"/>
          </a:xfrm>
          <a:prstGeom prst="rect">
            <a:avLst/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938528" y="6199632"/>
            <a:ext cx="9098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2567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Сначала создаём ценность для покупателя. Монетизация B2B появляется в момент сформированного спроса.</a:t>
            </a:r>
            <a:endParaRPr lang="en-US" sz="880" dirty="0"/>
          </a:p>
        </p:txBody>
      </p:sp>
      <p:sp>
        <p:nvSpPr>
          <p:cNvPr id="20" name="Text 17"/>
          <p:cNvSpPr/>
          <p:nvPr/>
        </p:nvSpPr>
        <p:spPr>
          <a:xfrm>
            <a:off x="7589520" y="6611112"/>
            <a:ext cx="3657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30" dirty="0">
                <a:solidFill>
                  <a:srgbClr val="93A0B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Основание: кейс GeoDom + исследование рынка + бизнес-модель GeoDom</a:t>
            </a:r>
            <a:endParaRPr lang="en-US" sz="530" dirty="0"/>
          </a:p>
        </p:txBody>
      </p:sp>
      <p:sp>
        <p:nvSpPr>
          <p:cNvPr id="21" name="AutoShape 2" descr="Сгенерированное изображение 1">
            <a:extLst>
              <a:ext uri="{FF2B5EF4-FFF2-40B4-BE49-F238E27FC236}">
                <a16:creationId xmlns:a16="http://schemas.microsoft.com/office/drawing/2014/main" id="{99967376-CC67-4EA6-E19D-C40DAC3AB9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AutoShape 4" descr="Сгенерированное изображение 1">
            <a:extLst>
              <a:ext uri="{FF2B5EF4-FFF2-40B4-BE49-F238E27FC236}">
                <a16:creationId xmlns:a16="http://schemas.microsoft.com/office/drawing/2014/main" id="{6D5E2A2A-47AF-F55C-2D35-4FB556A940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A37E0EB0-864D-5A06-8538-E779DDE828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364" y="333445"/>
            <a:ext cx="4282495" cy="57099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1752" y="39319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 err="1">
                <a:solidFill>
                  <a:srgbClr val="111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Киллер</a:t>
            </a:r>
            <a:r>
              <a:rPr lang="en-US" sz="2300" b="1" dirty="0">
                <a:solidFill>
                  <a:srgbClr val="111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300" b="1">
                <a:solidFill>
                  <a:srgbClr val="111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фича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01752" y="1078992"/>
            <a:ext cx="6720840" cy="4434840"/>
          </a:xfrm>
          <a:prstGeom prst="roundRect">
            <a:avLst>
              <a:gd name="adj" fmla="val 4124"/>
            </a:avLst>
          </a:prstGeom>
          <a:solidFill>
            <a:srgbClr val="4B5CBD"/>
          </a:solidFill>
          <a:ln w="12700">
            <a:solidFill>
              <a:srgbClr val="4B5CB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" y="1078992"/>
            <a:ext cx="6720840" cy="4434840"/>
          </a:xfrm>
          <a:prstGeom prst="roundRect">
            <a:avLst>
              <a:gd name="adj" fmla="val 4124"/>
            </a:avLst>
          </a:prstGeom>
          <a:solidFill>
            <a:srgbClr val="31C5A5">
              <a:alpha val="82000"/>
            </a:srgbClr>
          </a:solidFill>
          <a:ln w="12700">
            <a:solidFill>
              <a:srgbClr val="31C5A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1078992"/>
            <a:ext cx="1353312" cy="4434840"/>
          </a:xfrm>
          <a:prstGeom prst="rect">
            <a:avLst/>
          </a:prstGeom>
          <a:solidFill>
            <a:srgbClr val="3E88D6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533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kern="0" spc="1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КЛЮЧЕВАЯ ОСОБЕННОСТЬ</a:t>
            </a:r>
            <a:endParaRPr lang="en-US" sz="740" dirty="0"/>
          </a:p>
        </p:txBody>
      </p:sp>
      <p:sp>
        <p:nvSpPr>
          <p:cNvPr id="7" name="Text 5"/>
          <p:cNvSpPr/>
          <p:nvPr/>
        </p:nvSpPr>
        <p:spPr>
          <a:xfrm>
            <a:off x="658368" y="166420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Персональный объяснимый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скоринг жилья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274320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и та же квартира получает разную оценку для разных жизненных сценариев. GeoDom учитывает бюджет, время до работы, инфраструктуру и личные приоритеты — и показывает вклад каждого фактора.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658368" y="4434840"/>
            <a:ext cx="57150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455371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130" dirty="0">
                <a:solidFill>
                  <a:srgbClr val="0FA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ЭФФЕКТ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896112" y="478231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111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видит не просто «87/100», а почему конкретный вариант подходит именно ему.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7296912" y="11064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0FA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ЧЕМ ОТЛИЧАЕМСЯ?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296912" y="1371600"/>
            <a:ext cx="4114800" cy="1874520"/>
          </a:xfrm>
          <a:prstGeom prst="roundRect">
            <a:avLst>
              <a:gd name="adj" fmla="val 5854"/>
            </a:avLst>
          </a:prstGeom>
          <a:solidFill>
            <a:srgbClr val="F4F8FB"/>
          </a:solidFill>
          <a:ln w="10160">
            <a:solidFill>
              <a:srgbClr val="D4E0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43800" y="1618488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42BFC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43800" y="1673352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7543800" y="214884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Иначе, чем у других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543800" y="2450592"/>
            <a:ext cx="3401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17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не даём общую «оценку квартиры». GeoDom объединяет характеристики жилья, геоданные, маршруты и индивидуальные веса в одну персональную оценку.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7296912" y="3511296"/>
            <a:ext cx="4114800" cy="1874520"/>
          </a:xfrm>
          <a:prstGeom prst="roundRect">
            <a:avLst>
              <a:gd name="adj" fmla="val 5854"/>
            </a:avLst>
          </a:prstGeom>
          <a:solidFill>
            <a:srgbClr val="F4F8FB"/>
          </a:solidFill>
          <a:ln w="10160">
            <a:solidFill>
              <a:srgbClr val="D4E0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43800" y="3758184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42BFC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3800" y="3813048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7543800" y="428853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Эффект для пользователя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543800" y="4590288"/>
            <a:ext cx="3401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17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Несколько квартир сравниваются в одном формате — без ручного сведения объявлений, карт и маршрутов. Результат можно проверить по факторам и источникам.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301752" y="5779008"/>
            <a:ext cx="11109960" cy="475488"/>
          </a:xfrm>
          <a:prstGeom prst="roundRect">
            <a:avLst>
              <a:gd name="adj" fmla="val 23077"/>
            </a:avLst>
          </a:prstGeom>
          <a:solidFill>
            <a:srgbClr val="E1F5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592531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115" dirty="0">
                <a:solidFill>
                  <a:srgbClr val="0FA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КЛЮЧЕВОЙ ТЕЗИС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1691640" y="5897880"/>
            <a:ext cx="9052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14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 отличие GeoDom — персональная пригодность жилья для конкретного сценария жизни, а не просто поиск или рыночная оценка.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7452360" y="6382512"/>
            <a:ext cx="3749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20" dirty="0">
                <a:solidFill>
                  <a:srgbClr val="98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Основание: исследование GeoDom · OMI 09.02.2026 · ВЦИОМ 15.06.2026 · конкурентный аудит 26.09.2026</a:t>
            </a:r>
            <a:endParaRPr lang="en-US" sz="52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9AF0EA-3893-25ED-4B51-D9A60A735B08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8495C1-04CD-2622-03E6-2C0033777545}"/>
              </a:ext>
            </a:extLst>
          </p:cNvPr>
          <p:cNvSpPr txBox="1"/>
          <p:nvPr/>
        </p:nvSpPr>
        <p:spPr>
          <a:xfrm>
            <a:off x="859790" y="62103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>
                <a:solidFill>
                  <a:srgbClr val="0F1B3D"/>
                </a:solidFill>
                <a:latin typeface="Arial Black" panose="020B0A04020102020204" pitchFamily="34" charset="0"/>
              </a:rPr>
              <a:t>Рабочий прототип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C1AC70-CCF8-7D1A-5760-185BACB2EF0C}"/>
              </a:ext>
            </a:extLst>
          </p:cNvPr>
          <p:cNvSpPr txBox="1"/>
          <p:nvPr/>
        </p:nvSpPr>
        <p:spPr>
          <a:xfrm>
            <a:off x="2246745" y="2897909"/>
            <a:ext cx="304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ru-RU" sz="1200" b="1" dirty="0">
                <a:solidFill>
                  <a:srgbClr val="6B7892"/>
                </a:solidFill>
                <a:latin typeface="Arial" panose="020B0604020202020204" pitchFamily="34" charset="0"/>
              </a:rPr>
              <a:t>Можно вставить </a:t>
            </a:r>
            <a:r>
              <a:rPr lang="ru-RU" sz="1200" b="1" dirty="0" err="1">
                <a:solidFill>
                  <a:srgbClr val="6B7892"/>
                </a:solidFill>
                <a:latin typeface="Arial" panose="020B0604020202020204" pitchFamily="34" charset="0"/>
              </a:rPr>
              <a:t>скринкастт</a:t>
            </a:r>
            <a:endParaRPr lang="ru-RU" sz="1200" b="1" dirty="0">
              <a:solidFill>
                <a:srgbClr val="6B7892"/>
              </a:solidFill>
              <a:latin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E92107-8E08-EAE3-4F8B-E4BAEA5F68BF}"/>
              </a:ext>
            </a:extLst>
          </p:cNvPr>
          <p:cNvSpPr txBox="1"/>
          <p:nvPr/>
        </p:nvSpPr>
        <p:spPr>
          <a:xfrm>
            <a:off x="812800" y="3568700"/>
            <a:ext cx="304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endParaRPr lang="ru-RU" sz="1000" dirty="0">
              <a:solidFill>
                <a:srgbClr val="6B7892"/>
              </a:solidFill>
              <a:latin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C162A8B-721D-8E63-53FD-CB347BCF3D30}"/>
              </a:ext>
            </a:extLst>
          </p:cNvPr>
          <p:cNvSpPr txBox="1"/>
          <p:nvPr/>
        </p:nvSpPr>
        <p:spPr>
          <a:xfrm>
            <a:off x="4470400" y="3568700"/>
            <a:ext cx="304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endParaRPr lang="ru-RU" sz="1000" dirty="0">
              <a:solidFill>
                <a:srgbClr val="6B7892"/>
              </a:solidFill>
              <a:latin typeface="Arial" panose="020B0604020202020204" pitchFamily="34" charset="0"/>
            </a:endParaRP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0D47CA82-D99E-75E6-8E9D-75D9299071CC}"/>
              </a:ext>
            </a:extLst>
          </p:cNvPr>
          <p:cNvSpPr/>
          <p:nvPr/>
        </p:nvSpPr>
        <p:spPr>
          <a:xfrm>
            <a:off x="7924800" y="1320800"/>
            <a:ext cx="3657600" cy="4445000"/>
          </a:xfrm>
          <a:prstGeom prst="roundRect">
            <a:avLst>
              <a:gd name="adj" fmla="val 7000"/>
            </a:avLst>
          </a:prstGeom>
          <a:solidFill>
            <a:srgbClr val="0F1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8CD6B02-9A64-74F6-3F56-1AADBD928CA1}"/>
              </a:ext>
            </a:extLst>
          </p:cNvPr>
          <p:cNvSpPr txBox="1"/>
          <p:nvPr/>
        </p:nvSpPr>
        <p:spPr>
          <a:xfrm>
            <a:off x="8229600" y="1600200"/>
            <a:ext cx="254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7FE3C4"/>
                </a:solidFill>
                <a:latin typeface="Arial Black" panose="020B0A04020102020204" pitchFamily="34" charset="0"/>
              </a:rPr>
              <a:t>MVP</a:t>
            </a:r>
            <a:endParaRPr lang="ru-RU" sz="2400">
              <a:solidFill>
                <a:srgbClr val="7FE3C4"/>
              </a:solidFill>
              <a:latin typeface="Arial Black" panose="020B0A040201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7E5ABA-3DEC-CBAB-E980-B1DC8764FF97}"/>
              </a:ext>
            </a:extLst>
          </p:cNvPr>
          <p:cNvSpPr txBox="1"/>
          <p:nvPr/>
        </p:nvSpPr>
        <p:spPr>
          <a:xfrm>
            <a:off x="8229600" y="2235200"/>
            <a:ext cx="304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7FE3C4"/>
                </a:solidFill>
                <a:latin typeface="Arial" panose="020B0604020202020204" pitchFamily="34" charset="0"/>
              </a:rPr>
              <a:t>ЧТО УЖЕ РАБОТАЕТ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A1FE16-3F36-72E8-0F5C-09E6BEA6A814}"/>
              </a:ext>
            </a:extLst>
          </p:cNvPr>
          <p:cNvSpPr txBox="1"/>
          <p:nvPr/>
        </p:nvSpPr>
        <p:spPr>
          <a:xfrm>
            <a:off x="8229600" y="2463800"/>
            <a:ext cx="304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300" dirty="0">
                <a:solidFill>
                  <a:srgbClr val="FFFFFF"/>
                </a:solidFill>
                <a:latin typeface="Arial" panose="020B0604020202020204" pitchFamily="34" charset="0"/>
              </a:rPr>
              <a:t>Поиск квартиры , скоринг по заданным параметрам , ипотечный калькулятор , возможность выставлять объявления 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6E8EBB8-DF49-7ADF-F234-28D22DDEEF49}"/>
              </a:ext>
            </a:extLst>
          </p:cNvPr>
          <p:cNvSpPr txBox="1"/>
          <p:nvPr/>
        </p:nvSpPr>
        <p:spPr>
          <a:xfrm>
            <a:off x="8229600" y="3378200"/>
            <a:ext cx="304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7FE3C4"/>
                </a:solidFill>
                <a:latin typeface="Arial" panose="020B0604020202020204" pitchFamily="34" charset="0"/>
              </a:rPr>
              <a:t>ЧТО ПОКАЖЕМ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096BCB-59EF-F856-3055-CE5A5F7EC10A}"/>
              </a:ext>
            </a:extLst>
          </p:cNvPr>
          <p:cNvSpPr txBox="1"/>
          <p:nvPr/>
        </p:nvSpPr>
        <p:spPr>
          <a:xfrm>
            <a:off x="8229600" y="3606800"/>
            <a:ext cx="304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300" dirty="0">
                <a:solidFill>
                  <a:srgbClr val="FFFFFF"/>
                </a:solidFill>
                <a:latin typeface="Arial" panose="020B0604020202020204" pitchFamily="34" charset="0"/>
              </a:rPr>
              <a:t>Продемонстрируем пользовательский путь при выборе квартиры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4F98D3-F880-70C0-A74F-ECBAAD1613DA}"/>
              </a:ext>
            </a:extLst>
          </p:cNvPr>
          <p:cNvSpPr txBox="1"/>
          <p:nvPr/>
        </p:nvSpPr>
        <p:spPr>
          <a:xfrm>
            <a:off x="8229600" y="4521200"/>
            <a:ext cx="304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ru-RU" sz="900" b="1" spc="150" dirty="0">
              <a:solidFill>
                <a:srgbClr val="7FE3C4"/>
              </a:solidFill>
              <a:latin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55D7719-9690-932A-E36A-42C4FD4BB9AA}"/>
              </a:ext>
            </a:extLst>
          </p:cNvPr>
          <p:cNvSpPr txBox="1"/>
          <p:nvPr/>
        </p:nvSpPr>
        <p:spPr>
          <a:xfrm>
            <a:off x="8229600" y="4749800"/>
            <a:ext cx="304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ru-RU" sz="130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EBA0999-4ADB-848C-B1CC-C0EB64840A07}"/>
              </a:ext>
            </a:extLst>
          </p:cNvPr>
          <p:cNvSpPr txBox="1"/>
          <p:nvPr/>
        </p:nvSpPr>
        <p:spPr>
          <a:xfrm>
            <a:off x="1973580" y="6083300"/>
            <a:ext cx="9398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endParaRPr lang="ru-RU" sz="1150" dirty="0">
              <a:solidFill>
                <a:srgbClr val="35425F"/>
              </a:solidFill>
              <a:latin typeface="Arial" panose="020B0604020202020204" pitchFamily="34" charset="0"/>
            </a:endParaRPr>
          </a:p>
        </p:txBody>
      </p:sp>
      <p:pic>
        <p:nvPicPr>
          <p:cNvPr id="37" name="GeoDom — квартиры Красноярска ">
            <a:hlinkClick r:id="" action="ppaction://media"/>
            <a:extLst>
              <a:ext uri="{FF2B5EF4-FFF2-40B4-BE49-F238E27FC236}">
                <a16:creationId xmlns:a16="http://schemas.microsoft.com/office/drawing/2014/main" id="{96CBCA32-37F0-3648-2416-2AA9519B48A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94473" y="1315351"/>
            <a:ext cx="7073127" cy="380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851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304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63C7C5-F112-A241-5555-A9972866D94D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0EB5353-F6CE-0869-F7DA-127DD7F8B113}"/>
              </a:ext>
            </a:extLst>
          </p:cNvPr>
          <p:cNvSpPr txBox="1"/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>
                <a:solidFill>
                  <a:srgbClr val="0F1B3D"/>
                </a:solidFill>
                <a:latin typeface="Arial Black" panose="020B0A04020102020204" pitchFamily="34" charset="0"/>
              </a:rPr>
              <a:t>Развитие проекта</a:t>
            </a: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96279473-B2B8-D7B5-1FCA-76C6A21C6332}"/>
              </a:ext>
            </a:extLst>
          </p:cNvPr>
          <p:cNvCxnSpPr/>
          <p:nvPr/>
        </p:nvCxnSpPr>
        <p:spPr>
          <a:xfrm>
            <a:off x="889000" y="1905000"/>
            <a:ext cx="10414000" cy="0"/>
          </a:xfrm>
          <a:prstGeom prst="line">
            <a:avLst/>
          </a:prstGeom>
          <a:ln w="25400">
            <a:solidFill>
              <a:srgbClr val="DC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Овал 34">
            <a:extLst>
              <a:ext uri="{FF2B5EF4-FFF2-40B4-BE49-F238E27FC236}">
                <a16:creationId xmlns:a16="http://schemas.microsoft.com/office/drawing/2014/main" id="{3BBDDE2D-D02D-BBAE-4CF7-70F759715D79}"/>
              </a:ext>
            </a:extLst>
          </p:cNvPr>
          <p:cNvSpPr/>
          <p:nvPr/>
        </p:nvSpPr>
        <p:spPr>
          <a:xfrm>
            <a:off x="863600" y="1778000"/>
            <a:ext cx="254000" cy="254000"/>
          </a:xfrm>
          <a:prstGeom prst="ellipse">
            <a:avLst/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21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4E202490-797A-8B50-DE75-671C4A43B7FD}"/>
              </a:ext>
            </a:extLst>
          </p:cNvPr>
          <p:cNvSpPr/>
          <p:nvPr/>
        </p:nvSpPr>
        <p:spPr>
          <a:xfrm>
            <a:off x="609600" y="2286000"/>
            <a:ext cx="3521710" cy="3479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C1C3D01-4565-CC40-1A1D-6E905D29A9AA}"/>
              </a:ext>
            </a:extLst>
          </p:cNvPr>
          <p:cNvSpPr txBox="1"/>
          <p:nvPr/>
        </p:nvSpPr>
        <p:spPr>
          <a:xfrm>
            <a:off x="889000" y="2565400"/>
            <a:ext cx="296291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000" b="1" spc="150">
                <a:solidFill>
                  <a:srgbClr val="22A889"/>
                </a:solidFill>
                <a:latin typeface="Arial" panose="020B0604020202020204" pitchFamily="34" charset="0"/>
              </a:rPr>
              <a:t>01 · ХАКАТОН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D8A359-52A2-D002-4C89-698F59764DB7}"/>
              </a:ext>
            </a:extLst>
          </p:cNvPr>
          <p:cNvSpPr txBox="1"/>
          <p:nvPr/>
        </p:nvSpPr>
        <p:spPr>
          <a:xfrm>
            <a:off x="889000" y="2946400"/>
            <a:ext cx="296291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 dirty="0">
                <a:solidFill>
                  <a:srgbClr val="0F1B3D"/>
                </a:solidFill>
                <a:latin typeface="Arial" panose="020B0604020202020204" pitchFamily="34" charset="0"/>
              </a:rPr>
              <a:t>MVP </a:t>
            </a:r>
            <a:r>
              <a:rPr lang="en-US" b="1" dirty="0" err="1">
                <a:solidFill>
                  <a:srgbClr val="0F1B3D"/>
                </a:solidFill>
                <a:latin typeface="Arial" panose="020B0604020202020204" pitchFamily="34" charset="0"/>
              </a:rPr>
              <a:t>GeoDom</a:t>
            </a:r>
            <a:endParaRPr lang="ru-RU" b="1" dirty="0">
              <a:solidFill>
                <a:srgbClr val="0F1B3D"/>
              </a:solidFill>
              <a:latin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6B724A-0803-6903-B2FA-805287FBEC62}"/>
              </a:ext>
            </a:extLst>
          </p:cNvPr>
          <p:cNvSpPr txBox="1"/>
          <p:nvPr/>
        </p:nvSpPr>
        <p:spPr>
          <a:xfrm>
            <a:off x="889000" y="3810000"/>
            <a:ext cx="29629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50" dirty="0">
                <a:solidFill>
                  <a:srgbClr val="6B7892"/>
                </a:solidFill>
                <a:latin typeface="Arial" panose="020B0604020202020204" pitchFamily="34" charset="0"/>
              </a:rPr>
              <a:t>Поиск квартир на карте Красноярск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50" dirty="0">
                <a:solidFill>
                  <a:srgbClr val="6B7892"/>
                </a:solidFill>
                <a:latin typeface="Arial" panose="020B0604020202020204" pitchFamily="34" charset="0"/>
              </a:rPr>
              <a:t>Оценка района и инфраструктуры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50" dirty="0">
                <a:solidFill>
                  <a:srgbClr val="6B7892"/>
                </a:solidFill>
                <a:latin typeface="Arial" panose="020B0604020202020204" pitchFamily="34" charset="0"/>
              </a:rPr>
              <a:t>Персональный скоринг объекта под запрос пользователя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50" dirty="0">
                <a:solidFill>
                  <a:srgbClr val="6B7892"/>
                </a:solidFill>
                <a:latin typeface="Arial" panose="020B0604020202020204" pitchFamily="34" charset="0"/>
              </a:rPr>
              <a:t>ЛК и добавления объявлений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6B7892"/>
                </a:solidFill>
                <a:latin typeface="Arial" panose="020B0604020202020204" pitchFamily="34" charset="0"/>
              </a:rPr>
              <a:t>Backend +</a:t>
            </a:r>
            <a:r>
              <a:rPr lang="ru-RU" sz="1250" dirty="0">
                <a:solidFill>
                  <a:srgbClr val="6B7892"/>
                </a:solidFill>
                <a:latin typeface="Arial" panose="020B0604020202020204" pitchFamily="34" charset="0"/>
              </a:rPr>
              <a:t> </a:t>
            </a:r>
            <a:r>
              <a:rPr lang="ru-RU" sz="1250" dirty="0" err="1">
                <a:solidFill>
                  <a:srgbClr val="6B7892"/>
                </a:solidFill>
                <a:latin typeface="Arial" panose="020B0604020202020204" pitchFamily="34" charset="0"/>
              </a:rPr>
              <a:t>геоданные</a:t>
            </a:r>
            <a:r>
              <a:rPr lang="ru-RU" sz="1250" dirty="0">
                <a:solidFill>
                  <a:srgbClr val="6B7892"/>
                </a:solidFill>
                <a:latin typeface="Arial" panose="020B0604020202020204" pitchFamily="34" charset="0"/>
              </a:rPr>
              <a:t> + </a:t>
            </a:r>
            <a:r>
              <a:rPr lang="en-US" sz="1250" dirty="0">
                <a:solidFill>
                  <a:srgbClr val="6B7892"/>
                </a:solidFill>
                <a:latin typeface="Arial" panose="020B0604020202020204" pitchFamily="34" charset="0"/>
              </a:rPr>
              <a:t>scoring + frontend </a:t>
            </a:r>
            <a:endParaRPr lang="ru-RU" sz="1250" dirty="0">
              <a:solidFill>
                <a:srgbClr val="6B7892"/>
              </a:solidFill>
              <a:latin typeface="Arial" panose="020B0604020202020204" pitchFamily="34" charset="0"/>
            </a:endParaRPr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903968FD-882B-E7D6-11F8-2F37A233B2F5}"/>
              </a:ext>
            </a:extLst>
          </p:cNvPr>
          <p:cNvSpPr/>
          <p:nvPr/>
        </p:nvSpPr>
        <p:spPr>
          <a:xfrm>
            <a:off x="4588510" y="1778000"/>
            <a:ext cx="254000" cy="254000"/>
          </a:xfrm>
          <a:prstGeom prst="ellipse">
            <a:avLst/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21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680C7A71-F7E4-FD06-CC74-B19745CE15DC}"/>
              </a:ext>
            </a:extLst>
          </p:cNvPr>
          <p:cNvSpPr/>
          <p:nvPr/>
        </p:nvSpPr>
        <p:spPr>
          <a:xfrm>
            <a:off x="4334510" y="2286000"/>
            <a:ext cx="3521710" cy="3479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2FABF28-7B82-8842-4F45-E6B40DC12AC5}"/>
              </a:ext>
            </a:extLst>
          </p:cNvPr>
          <p:cNvSpPr txBox="1"/>
          <p:nvPr/>
        </p:nvSpPr>
        <p:spPr>
          <a:xfrm>
            <a:off x="4613910" y="2565400"/>
            <a:ext cx="296291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000" b="1" spc="150">
                <a:solidFill>
                  <a:srgbClr val="22A889"/>
                </a:solidFill>
                <a:latin typeface="Arial" panose="020B0604020202020204" pitchFamily="34" charset="0"/>
              </a:rPr>
              <a:t>02 · БЛИЖАЙШИЙ ЭТАП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0069D35-8C66-02ED-750A-40AD0E43632A}"/>
              </a:ext>
            </a:extLst>
          </p:cNvPr>
          <p:cNvSpPr txBox="1"/>
          <p:nvPr/>
        </p:nvSpPr>
        <p:spPr>
          <a:xfrm>
            <a:off x="4613910" y="2946400"/>
            <a:ext cx="296291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b="1" dirty="0">
                <a:solidFill>
                  <a:srgbClr val="0F1B3D"/>
                </a:solidFill>
                <a:latin typeface="Arial" panose="020B0604020202020204" pitchFamily="34" charset="0"/>
              </a:rPr>
              <a:t>Улучшения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421FBE-0DE8-BA50-AD7F-171A7115DBCF}"/>
              </a:ext>
            </a:extLst>
          </p:cNvPr>
          <p:cNvSpPr txBox="1"/>
          <p:nvPr/>
        </p:nvSpPr>
        <p:spPr>
          <a:xfrm>
            <a:off x="4613910" y="3810000"/>
            <a:ext cx="29629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50" dirty="0">
                <a:solidFill>
                  <a:srgbClr val="6B7892"/>
                </a:solidFill>
                <a:latin typeface="Arial" panose="020B0604020202020204" pitchFamily="34" charset="0"/>
              </a:rPr>
              <a:t>Добавления </a:t>
            </a:r>
            <a:r>
              <a:rPr lang="en-US" sz="1250" dirty="0" err="1">
                <a:solidFill>
                  <a:srgbClr val="6B7892"/>
                </a:solidFill>
                <a:latin typeface="Arial" panose="020B0604020202020204" pitchFamily="34" charset="0"/>
              </a:rPr>
              <a:t>clickhouse</a:t>
            </a:r>
            <a:r>
              <a:rPr lang="en-US" sz="1250" dirty="0">
                <a:solidFill>
                  <a:srgbClr val="6B7892"/>
                </a:solidFill>
                <a:latin typeface="Arial" panose="020B0604020202020204" pitchFamily="34" charset="0"/>
              </a:rPr>
              <a:t> </a:t>
            </a:r>
            <a:r>
              <a:rPr lang="ru-RU" sz="1250" dirty="0">
                <a:solidFill>
                  <a:srgbClr val="6B7892"/>
                </a:solidFill>
                <a:latin typeface="Arial" panose="020B0604020202020204" pitchFamily="34" charset="0"/>
              </a:rPr>
              <a:t>для </a:t>
            </a:r>
            <a:r>
              <a:rPr lang="en-US" sz="1250" dirty="0">
                <a:solidFill>
                  <a:srgbClr val="6B7892"/>
                </a:solidFill>
                <a:latin typeface="Arial" panose="020B0604020202020204" pitchFamily="34" charset="0"/>
              </a:rPr>
              <a:t>event </a:t>
            </a:r>
            <a:r>
              <a:rPr lang="ru-RU" sz="1250" dirty="0">
                <a:solidFill>
                  <a:srgbClr val="6B7892"/>
                </a:solidFill>
                <a:latin typeface="Arial" panose="020B0604020202020204" pitchFamily="34" charset="0"/>
              </a:rPr>
              <a:t>аналитики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50" dirty="0">
                <a:solidFill>
                  <a:srgbClr val="6B7892"/>
                </a:solidFill>
                <a:latin typeface="Arial" panose="020B0604020202020204" pitchFamily="34" charset="0"/>
              </a:rPr>
              <a:t>Сбор дата инфраструктуры для построения на ее основе алгоритмов рекомендаций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6B7892"/>
                </a:solidFill>
                <a:latin typeface="Arial" panose="020B0604020202020204" pitchFamily="34" charset="0"/>
              </a:rPr>
              <a:t>B2B </a:t>
            </a:r>
            <a:r>
              <a:rPr lang="ru-RU" sz="1250" dirty="0">
                <a:solidFill>
                  <a:srgbClr val="6B7892"/>
                </a:solidFill>
                <a:latin typeface="Arial" panose="020B0604020202020204" pitchFamily="34" charset="0"/>
              </a:rPr>
              <a:t>Монетизация  </a:t>
            </a:r>
          </a:p>
        </p:txBody>
      </p:sp>
      <p:sp>
        <p:nvSpPr>
          <p:cNvPr id="45" name="Овал 44">
            <a:extLst>
              <a:ext uri="{FF2B5EF4-FFF2-40B4-BE49-F238E27FC236}">
                <a16:creationId xmlns:a16="http://schemas.microsoft.com/office/drawing/2014/main" id="{00F86E36-DAE0-BFF2-354D-7B807A915282}"/>
              </a:ext>
            </a:extLst>
          </p:cNvPr>
          <p:cNvSpPr/>
          <p:nvPr/>
        </p:nvSpPr>
        <p:spPr>
          <a:xfrm>
            <a:off x="8313420" y="1778000"/>
            <a:ext cx="254000" cy="254000"/>
          </a:xfrm>
          <a:prstGeom prst="ellipse">
            <a:avLst/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21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C347244A-AC82-DC48-7311-A94C4635A6B8}"/>
              </a:ext>
            </a:extLst>
          </p:cNvPr>
          <p:cNvSpPr/>
          <p:nvPr/>
        </p:nvSpPr>
        <p:spPr>
          <a:xfrm>
            <a:off x="8059420" y="2286000"/>
            <a:ext cx="3521710" cy="3479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7D0AC93-A645-23C6-3909-CF969B15C369}"/>
              </a:ext>
            </a:extLst>
          </p:cNvPr>
          <p:cNvSpPr txBox="1"/>
          <p:nvPr/>
        </p:nvSpPr>
        <p:spPr>
          <a:xfrm>
            <a:off x="8338820" y="2565400"/>
            <a:ext cx="296291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000" b="1" spc="150">
                <a:solidFill>
                  <a:srgbClr val="22A889"/>
                </a:solidFill>
                <a:latin typeface="Arial" panose="020B0604020202020204" pitchFamily="34" charset="0"/>
              </a:rPr>
              <a:t>03 · ДАЛЬШЕ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BA285FE-1752-EF37-1BD5-E49344F109F8}"/>
              </a:ext>
            </a:extLst>
          </p:cNvPr>
          <p:cNvSpPr txBox="1"/>
          <p:nvPr/>
        </p:nvSpPr>
        <p:spPr>
          <a:xfrm>
            <a:off x="8338820" y="2946400"/>
            <a:ext cx="296291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b="1">
                <a:solidFill>
                  <a:srgbClr val="0F1B3D"/>
                </a:solidFill>
                <a:latin typeface="Arial" panose="020B0604020202020204" pitchFamily="34" charset="0"/>
              </a:rPr>
              <a:t>[Масштабирование]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AD3F2C1-D63A-E826-311A-F1EFF3A27F1B}"/>
              </a:ext>
            </a:extLst>
          </p:cNvPr>
          <p:cNvSpPr txBox="1"/>
          <p:nvPr/>
        </p:nvSpPr>
        <p:spPr>
          <a:xfrm>
            <a:off x="8338820" y="3810000"/>
            <a:ext cx="29629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50" dirty="0">
                <a:solidFill>
                  <a:srgbClr val="6B7892"/>
                </a:solidFill>
                <a:latin typeface="Arial" panose="020B0604020202020204" pitchFamily="34" charset="0"/>
              </a:rPr>
              <a:t>Масштабирования на рынок РФ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50" dirty="0">
                <a:solidFill>
                  <a:srgbClr val="6B7892"/>
                </a:solidFill>
                <a:latin typeface="Arial" panose="020B0604020202020204" pitchFamily="34" charset="0"/>
              </a:rPr>
              <a:t>Привлечение клиентов из сегмента </a:t>
            </a:r>
            <a:r>
              <a:rPr lang="en-US" sz="1250" dirty="0">
                <a:solidFill>
                  <a:srgbClr val="6B7892"/>
                </a:solidFill>
                <a:latin typeface="Arial" panose="020B0604020202020204" pitchFamily="34" charset="0"/>
              </a:rPr>
              <a:t>B2B </a:t>
            </a:r>
            <a:r>
              <a:rPr lang="ru-RU" sz="1250" dirty="0">
                <a:solidFill>
                  <a:srgbClr val="6B7892"/>
                </a:solidFill>
                <a:latin typeface="Arial" panose="020B0604020202020204" pitchFamily="34" charset="0"/>
              </a:rPr>
              <a:t>и </a:t>
            </a:r>
            <a:r>
              <a:rPr lang="en-US" sz="1250" dirty="0">
                <a:solidFill>
                  <a:srgbClr val="6B7892"/>
                </a:solidFill>
                <a:latin typeface="Arial" panose="020B0604020202020204" pitchFamily="34" charset="0"/>
              </a:rPr>
              <a:t>B2C</a:t>
            </a:r>
            <a:r>
              <a:rPr lang="ru-RU" sz="1250" dirty="0">
                <a:solidFill>
                  <a:srgbClr val="6B7892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86F216C-A989-2F3A-4D24-AD727A27AB91}"/>
              </a:ext>
            </a:extLst>
          </p:cNvPr>
          <p:cNvSpPr txBox="1"/>
          <p:nvPr/>
        </p:nvSpPr>
        <p:spPr>
          <a:xfrm>
            <a:off x="609600" y="1371600"/>
            <a:ext cx="762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100">
                <a:solidFill>
                  <a:srgbClr val="6B7892"/>
                </a:solidFill>
                <a:latin typeface="Arial" panose="020B0604020202020204" pitchFamily="34" charset="0"/>
              </a:rPr>
              <a:t>[Сроки этапов команда указывает сама]</a:t>
            </a:r>
          </a:p>
        </p:txBody>
      </p:sp>
    </p:spTree>
    <p:extLst>
      <p:ext uri="{BB962C8B-B14F-4D97-AF65-F5344CB8AC3E}">
        <p14:creationId xmlns:p14="http://schemas.microsoft.com/office/powerpoint/2010/main" val="1531819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83D4B053-CF93-4E4D-8BFF-AA4815288D81}"/>
              </a:ext>
            </a:extLst>
          </p:cNvPr>
          <p:cNvSpPr/>
          <p:nvPr/>
        </p:nvSpPr>
        <p:spPr>
          <a:xfrm>
            <a:off x="-50800" y="-73048"/>
            <a:ext cx="12242800" cy="6931048"/>
          </a:xfrm>
          <a:prstGeom prst="rect">
            <a:avLst/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8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BB3B56-ACC5-250E-53C8-EF40C631D832}"/>
              </a:ext>
            </a:extLst>
          </p:cNvPr>
          <p:cNvSpPr txBox="1"/>
          <p:nvPr/>
        </p:nvSpPr>
        <p:spPr>
          <a:xfrm>
            <a:off x="609600" y="381000"/>
            <a:ext cx="508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ru-RU" sz="900" b="1" spc="15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7349A296-9F81-A56B-1DA9-09604D220E9A}"/>
              </a:ext>
            </a:extLst>
          </p:cNvPr>
          <p:cNvGrpSpPr/>
          <p:nvPr/>
        </p:nvGrpSpPr>
        <p:grpSpPr>
          <a:xfrm>
            <a:off x="11353800" y="381000"/>
            <a:ext cx="231140" cy="195580"/>
            <a:chOff x="11353800" y="3810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49B7AF94-DFC6-FF6D-726E-CD589C976BBE}"/>
                </a:ext>
              </a:extLst>
            </p:cNvPr>
            <p:cNvSpPr/>
            <p:nvPr/>
          </p:nvSpPr>
          <p:spPr>
            <a:xfrm>
              <a:off x="1138936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621976D-FC1E-6A5D-B1B8-3F71DC641130}"/>
                </a:ext>
              </a:extLst>
            </p:cNvPr>
            <p:cNvSpPr/>
            <p:nvPr/>
          </p:nvSpPr>
          <p:spPr>
            <a:xfrm>
              <a:off x="1140714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A4EC5174-99A7-642D-C063-65478A67E10D}"/>
                </a:ext>
              </a:extLst>
            </p:cNvPr>
            <p:cNvSpPr/>
            <p:nvPr/>
          </p:nvSpPr>
          <p:spPr>
            <a:xfrm>
              <a:off x="1142492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293FBB3D-4148-00AE-CFAA-20B8873E5779}"/>
                </a:ext>
              </a:extLst>
            </p:cNvPr>
            <p:cNvSpPr/>
            <p:nvPr/>
          </p:nvSpPr>
          <p:spPr>
            <a:xfrm>
              <a:off x="1149604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20D6A5E9-FD67-8D6A-BB61-8C6A8EC6CC76}"/>
                </a:ext>
              </a:extLst>
            </p:cNvPr>
            <p:cNvSpPr/>
            <p:nvPr/>
          </p:nvSpPr>
          <p:spPr>
            <a:xfrm>
              <a:off x="1151382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E2E8D802-6D3E-810A-B315-11F93EFF13D9}"/>
                </a:ext>
              </a:extLst>
            </p:cNvPr>
            <p:cNvSpPr/>
            <p:nvPr/>
          </p:nvSpPr>
          <p:spPr>
            <a:xfrm>
              <a:off x="1153160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F8B587BF-E332-2788-E727-46979D46D590}"/>
                </a:ext>
              </a:extLst>
            </p:cNvPr>
            <p:cNvSpPr/>
            <p:nvPr/>
          </p:nvSpPr>
          <p:spPr>
            <a:xfrm>
              <a:off x="11371580" y="39878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566CBE84-041A-CC16-9999-BEE9B8B88838}"/>
                </a:ext>
              </a:extLst>
            </p:cNvPr>
            <p:cNvSpPr/>
            <p:nvPr/>
          </p:nvSpPr>
          <p:spPr>
            <a:xfrm>
              <a:off x="11442700" y="39878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B53AFE4E-C62C-F38F-45DA-8B666D3E743A}"/>
                </a:ext>
              </a:extLst>
            </p:cNvPr>
            <p:cNvSpPr/>
            <p:nvPr/>
          </p:nvSpPr>
          <p:spPr>
            <a:xfrm>
              <a:off x="11478260" y="39878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270B84A8-92DE-1811-3312-340ECF1AC5A4}"/>
                </a:ext>
              </a:extLst>
            </p:cNvPr>
            <p:cNvSpPr/>
            <p:nvPr/>
          </p:nvSpPr>
          <p:spPr>
            <a:xfrm>
              <a:off x="11549380" y="39878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B04F5979-812C-9F8E-4EDF-5203C2E83669}"/>
                </a:ext>
              </a:extLst>
            </p:cNvPr>
            <p:cNvSpPr/>
            <p:nvPr/>
          </p:nvSpPr>
          <p:spPr>
            <a:xfrm>
              <a:off x="11353800" y="41656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B834610C-7E31-DB69-83D1-F00743E2F4DE}"/>
                </a:ext>
              </a:extLst>
            </p:cNvPr>
            <p:cNvSpPr/>
            <p:nvPr/>
          </p:nvSpPr>
          <p:spPr>
            <a:xfrm>
              <a:off x="11460480" y="41656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8DF7A76C-1F97-AB0F-4C80-687CBCDB2188}"/>
                </a:ext>
              </a:extLst>
            </p:cNvPr>
            <p:cNvSpPr/>
            <p:nvPr/>
          </p:nvSpPr>
          <p:spPr>
            <a:xfrm>
              <a:off x="11567160" y="41656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ADE14151-28BA-DB18-F7F8-B0B0FFC469AD}"/>
                </a:ext>
              </a:extLst>
            </p:cNvPr>
            <p:cNvSpPr/>
            <p:nvPr/>
          </p:nvSpPr>
          <p:spPr>
            <a:xfrm>
              <a:off x="11353800" y="43434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40A3E37C-6735-A0AD-0973-F9565E5DC332}"/>
                </a:ext>
              </a:extLst>
            </p:cNvPr>
            <p:cNvSpPr/>
            <p:nvPr/>
          </p:nvSpPr>
          <p:spPr>
            <a:xfrm>
              <a:off x="11567160" y="43434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3BD1CED8-919C-3F6D-9221-7A983B88C01D}"/>
                </a:ext>
              </a:extLst>
            </p:cNvPr>
            <p:cNvSpPr/>
            <p:nvPr/>
          </p:nvSpPr>
          <p:spPr>
            <a:xfrm>
              <a:off x="11353800" y="45212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4CC2210E-B005-10C5-E21D-1FB2B35EB521}"/>
                </a:ext>
              </a:extLst>
            </p:cNvPr>
            <p:cNvSpPr/>
            <p:nvPr/>
          </p:nvSpPr>
          <p:spPr>
            <a:xfrm>
              <a:off x="11567160" y="45212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3E09B1D6-4292-2364-1C62-FE93E62F5AA0}"/>
                </a:ext>
              </a:extLst>
            </p:cNvPr>
            <p:cNvSpPr/>
            <p:nvPr/>
          </p:nvSpPr>
          <p:spPr>
            <a:xfrm>
              <a:off x="11371580" y="46990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F8D48C0B-CDAD-DC15-0391-3E660F796DD3}"/>
                </a:ext>
              </a:extLst>
            </p:cNvPr>
            <p:cNvSpPr/>
            <p:nvPr/>
          </p:nvSpPr>
          <p:spPr>
            <a:xfrm>
              <a:off x="11549380" y="46990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BC132612-6BE5-7A4C-4E2E-8639464B453D}"/>
                </a:ext>
              </a:extLst>
            </p:cNvPr>
            <p:cNvSpPr/>
            <p:nvPr/>
          </p:nvSpPr>
          <p:spPr>
            <a:xfrm>
              <a:off x="11389360" y="48768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236E3073-2B60-8250-7611-00A894DEA1AC}"/>
                </a:ext>
              </a:extLst>
            </p:cNvPr>
            <p:cNvSpPr/>
            <p:nvPr/>
          </p:nvSpPr>
          <p:spPr>
            <a:xfrm>
              <a:off x="11531600" y="48768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B164DDA8-5D7F-6601-6F7A-9E3EF5FBD9FC}"/>
                </a:ext>
              </a:extLst>
            </p:cNvPr>
            <p:cNvSpPr/>
            <p:nvPr/>
          </p:nvSpPr>
          <p:spPr>
            <a:xfrm>
              <a:off x="11407140" y="50546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02274A8F-E227-4A83-A619-7B189F95F2A3}"/>
                </a:ext>
              </a:extLst>
            </p:cNvPr>
            <p:cNvSpPr/>
            <p:nvPr/>
          </p:nvSpPr>
          <p:spPr>
            <a:xfrm>
              <a:off x="11513820" y="50546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45FB34A0-B3B5-E9C4-37FC-161C48682717}"/>
                </a:ext>
              </a:extLst>
            </p:cNvPr>
            <p:cNvSpPr/>
            <p:nvPr/>
          </p:nvSpPr>
          <p:spPr>
            <a:xfrm>
              <a:off x="11424920" y="52324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3BD10591-24F1-0A44-028E-83EF0D90F950}"/>
                </a:ext>
              </a:extLst>
            </p:cNvPr>
            <p:cNvSpPr/>
            <p:nvPr/>
          </p:nvSpPr>
          <p:spPr>
            <a:xfrm>
              <a:off x="11496040" y="52324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FBC376AA-9E27-6EDC-5566-0CDD3C3AC94F}"/>
                </a:ext>
              </a:extLst>
            </p:cNvPr>
            <p:cNvSpPr/>
            <p:nvPr/>
          </p:nvSpPr>
          <p:spPr>
            <a:xfrm>
              <a:off x="11442700" y="54102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603D9F25-F3BE-4B99-8C7D-7777B031212B}"/>
                </a:ext>
              </a:extLst>
            </p:cNvPr>
            <p:cNvSpPr/>
            <p:nvPr/>
          </p:nvSpPr>
          <p:spPr>
            <a:xfrm>
              <a:off x="11478260" y="54102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3AC60D43-0DA9-477E-906D-CA7191F1C980}"/>
                </a:ext>
              </a:extLst>
            </p:cNvPr>
            <p:cNvSpPr/>
            <p:nvPr/>
          </p:nvSpPr>
          <p:spPr>
            <a:xfrm>
              <a:off x="11460480" y="55880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BFFB5319-F724-977F-F91D-8FD7813302DA}"/>
              </a:ext>
            </a:extLst>
          </p:cNvPr>
          <p:cNvSpPr txBox="1"/>
          <p:nvPr/>
        </p:nvSpPr>
        <p:spPr>
          <a:xfrm>
            <a:off x="6553200" y="1066800"/>
            <a:ext cx="4724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ru-RU" sz="900" b="1" spc="15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43675E-4B33-3568-AC61-FCCB01A9E9C9}"/>
              </a:ext>
            </a:extLst>
          </p:cNvPr>
          <p:cNvSpPr txBox="1"/>
          <p:nvPr/>
        </p:nvSpPr>
        <p:spPr>
          <a:xfrm>
            <a:off x="6553200" y="1320800"/>
            <a:ext cx="47244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ru-RU" sz="17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B2D5842-5EDC-F00F-6188-651F6D1A8930}"/>
              </a:ext>
            </a:extLst>
          </p:cNvPr>
          <p:cNvSpPr txBox="1"/>
          <p:nvPr/>
        </p:nvSpPr>
        <p:spPr>
          <a:xfrm>
            <a:off x="558800" y="1663700"/>
            <a:ext cx="109728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4000" dirty="0">
                <a:solidFill>
                  <a:srgbClr val="FFFFFF"/>
                </a:solidFill>
                <a:latin typeface="Arial Black" panose="020B0A04020102020204" pitchFamily="34" charset="0"/>
              </a:rPr>
              <a:t>Спасибо за внимание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6F9A288-DB04-463F-F2D7-B15A66481E01}"/>
              </a:ext>
            </a:extLst>
          </p:cNvPr>
          <p:cNvSpPr txBox="1"/>
          <p:nvPr/>
        </p:nvSpPr>
        <p:spPr>
          <a:xfrm>
            <a:off x="594360" y="2654135"/>
            <a:ext cx="10972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700" dirty="0">
                <a:solidFill>
                  <a:srgbClr val="FFFFFF"/>
                </a:solidFill>
                <a:latin typeface="Arial" panose="020B0604020202020204" pitchFamily="34" charset="0"/>
              </a:rPr>
              <a:t>Готовы показать продукт и ответить на вопросы.</a:t>
            </a:r>
          </a:p>
        </p:txBody>
      </p: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6004FAB5-B452-217D-65A2-5CDED39F0974}"/>
              </a:ext>
            </a:extLst>
          </p:cNvPr>
          <p:cNvCxnSpPr/>
          <p:nvPr/>
        </p:nvCxnSpPr>
        <p:spPr>
          <a:xfrm>
            <a:off x="609600" y="5334000"/>
            <a:ext cx="10972800" cy="0"/>
          </a:xfrm>
          <a:prstGeom prst="line">
            <a:avLst/>
          </a:prstGeom>
          <a:ln w="9525" cap="flat" cmpd="sng" algn="ctr">
            <a:solidFill>
              <a:srgbClr val="FFFFFF">
                <a:alpha val="6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022B931-FFB3-186E-74FF-087D071A117C}"/>
              </a:ext>
            </a:extLst>
          </p:cNvPr>
          <p:cNvSpPr txBox="1"/>
          <p:nvPr/>
        </p:nvSpPr>
        <p:spPr>
          <a:xfrm>
            <a:off x="609600" y="5562600"/>
            <a:ext cx="3556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 b="1" spc="150">
                <a:solidFill>
                  <a:srgbClr val="FFFFFF"/>
                </a:solidFill>
                <a:latin typeface="Arial" panose="020B0604020202020204" pitchFamily="34" charset="0"/>
              </a:rPr>
              <a:t>GITHUB</a:t>
            </a:r>
            <a:endParaRPr lang="ru-RU" sz="900" b="1" spc="15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5E33332-9C32-FF39-8B48-B5284EDC9AAE}"/>
              </a:ext>
            </a:extLst>
          </p:cNvPr>
          <p:cNvSpPr txBox="1"/>
          <p:nvPr/>
        </p:nvSpPr>
        <p:spPr>
          <a:xfrm>
            <a:off x="609600" y="5791200"/>
            <a:ext cx="355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</a:rPr>
              <a:t>https://github.com/hruzdishe/geodom-public</a:t>
            </a:r>
            <a:endParaRPr lang="ru-RU" sz="15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A3C234E-D325-A7F5-C621-48006AF317B4}"/>
              </a:ext>
            </a:extLst>
          </p:cNvPr>
          <p:cNvSpPr txBox="1"/>
          <p:nvPr/>
        </p:nvSpPr>
        <p:spPr>
          <a:xfrm>
            <a:off x="4419600" y="5562600"/>
            <a:ext cx="3556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FFFFFF"/>
                </a:solidFill>
                <a:latin typeface="Arial" panose="020B0604020202020204" pitchFamily="34" charset="0"/>
              </a:rPr>
              <a:t>КОНТАКТ КАПИТАНА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660A35-FF16-5CE1-0A9A-8888FE31EEB4}"/>
              </a:ext>
            </a:extLst>
          </p:cNvPr>
          <p:cNvSpPr txBox="1"/>
          <p:nvPr/>
        </p:nvSpPr>
        <p:spPr>
          <a:xfrm>
            <a:off x="4419600" y="5803899"/>
            <a:ext cx="355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</a:rPr>
              <a:t>t.me/f_name_901</a:t>
            </a:r>
            <a:endParaRPr lang="ru-RU" sz="15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4A8F26D-5073-2CB1-A055-7C11DCEBA763}"/>
              </a:ext>
            </a:extLst>
          </p:cNvPr>
          <p:cNvSpPr txBox="1"/>
          <p:nvPr/>
        </p:nvSpPr>
        <p:spPr>
          <a:xfrm>
            <a:off x="8229600" y="5562600"/>
            <a:ext cx="3556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FFFFFF"/>
                </a:solidFill>
                <a:latin typeface="Arial" panose="020B0604020202020204" pitchFamily="34" charset="0"/>
              </a:rPr>
              <a:t>КОМАНДА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5DA0842-E91F-4FAA-A543-BAA6D618D86B}"/>
              </a:ext>
            </a:extLst>
          </p:cNvPr>
          <p:cNvSpPr txBox="1"/>
          <p:nvPr/>
        </p:nvSpPr>
        <p:spPr>
          <a:xfrm>
            <a:off x="8229600" y="5791200"/>
            <a:ext cx="355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500" b="1" dirty="0">
                <a:solidFill>
                  <a:srgbClr val="FFFFFF"/>
                </a:solidFill>
                <a:latin typeface="Arial" panose="020B0604020202020204" pitchFamily="34" charset="0"/>
              </a:rPr>
              <a:t>Тройка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6A2864A-8291-0FCD-87F7-6AD29F689E90}"/>
              </a:ext>
            </a:extLst>
          </p:cNvPr>
          <p:cNvSpPr txBox="1"/>
          <p:nvPr/>
        </p:nvSpPr>
        <p:spPr>
          <a:xfrm>
            <a:off x="609600" y="63500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000">
                <a:solidFill>
                  <a:srgbClr val="FFFFFF"/>
                </a:solidFill>
                <a:latin typeface="Arial" panose="020B0604020202020204" pitchFamily="34" charset="0"/>
              </a:rPr>
              <a:t>Стартап-хакатон «Пятый элемент» 2026 · 26–27 сентября · СФУ</a:t>
            </a:r>
          </a:p>
        </p:txBody>
      </p:sp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21040246-9F45-5F25-1BED-63715E06DA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240" y="73047"/>
            <a:ext cx="6595920" cy="687026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32147F67-3073-696F-17E7-9E82B121C910}"/>
              </a:ext>
            </a:extLst>
          </p:cNvPr>
          <p:cNvSpPr txBox="1"/>
          <p:nvPr/>
        </p:nvSpPr>
        <p:spPr>
          <a:xfrm>
            <a:off x="8427883" y="3935320"/>
            <a:ext cx="1579717" cy="26833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dirty="0">
                <a:solidFill>
                  <a:srgbClr val="FFFFFF"/>
                </a:solidFill>
                <a:latin typeface="Arial" panose="020B0604020202020204" pitchFamily="34" charset="0"/>
              </a:rPr>
              <a:t>QR </a:t>
            </a:r>
            <a:r>
              <a:rPr lang="ru-RU" sz="1700" dirty="0">
                <a:solidFill>
                  <a:srgbClr val="FFFFFF"/>
                </a:solidFill>
                <a:latin typeface="Arial" panose="020B0604020202020204" pitchFamily="34" charset="0"/>
              </a:rPr>
              <a:t>код на сайт </a:t>
            </a:r>
          </a:p>
        </p:txBody>
      </p:sp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23CEFEAE-71F5-2C04-B885-2EF0511140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3644" y="1523999"/>
            <a:ext cx="2228194" cy="222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6703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923</Words>
  <Application>Microsoft Office PowerPoint</Application>
  <PresentationFormat>Широкоэкранный</PresentationFormat>
  <Paragraphs>133</Paragraphs>
  <Slides>9</Slides>
  <Notes>9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Arial Black</vt:lpstr>
      <vt:lpstr>Noto Sans</vt:lpstr>
      <vt:lpstr>Plus Jakarta Sans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Илья Гурбатов</dc:creator>
  <cp:lastModifiedBy>Артём Шадрин</cp:lastModifiedBy>
  <cp:revision>10</cp:revision>
  <dcterms:created xsi:type="dcterms:W3CDTF">2026-09-26T12:28:36Z</dcterms:created>
  <dcterms:modified xsi:type="dcterms:W3CDTF">2026-09-27T03:54:47Z</dcterms:modified>
</cp:coreProperties>
</file>